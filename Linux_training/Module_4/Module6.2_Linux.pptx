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598" r:id="rId5"/>
    <p:sldId id="589" r:id="rId6"/>
    <p:sldId id="599" r:id="rId7"/>
    <p:sldId id="608" r:id="rId8"/>
    <p:sldId id="621" r:id="rId9"/>
    <p:sldId id="609" r:id="rId10"/>
    <p:sldId id="610" r:id="rId11"/>
    <p:sldId id="611" r:id="rId12"/>
    <p:sldId id="612" r:id="rId13"/>
    <p:sldId id="613" r:id="rId14"/>
    <p:sldId id="614" r:id="rId15"/>
    <p:sldId id="615" r:id="rId16"/>
    <p:sldId id="616" r:id="rId17"/>
    <p:sldId id="600" r:id="rId18"/>
    <p:sldId id="601" r:id="rId19"/>
    <p:sldId id="603" r:id="rId20"/>
    <p:sldId id="602" r:id="rId21"/>
    <p:sldId id="604" r:id="rId22"/>
    <p:sldId id="605" r:id="rId23"/>
    <p:sldId id="606" r:id="rId24"/>
    <p:sldId id="617" r:id="rId25"/>
    <p:sldId id="607" r:id="rId26"/>
    <p:sldId id="618" r:id="rId27"/>
    <p:sldId id="620" r:id="rId28"/>
    <p:sldId id="61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031B37-CDDB-76A3-5EAC-45368755FFB1}" v="3" dt="2025-10-30T12:19:03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2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3e7c9d67-afab-4694-94e1-af28129ed65f::" providerId="AD" clId="Web-{987CADC0-F4D4-4ACD-B5C4-E7D88A6A631B}"/>
    <pc:docChg chg="addSld">
      <pc:chgData name="Guest User" userId="S::urn:spo:tenantanon#3e7c9d67-afab-4694-94e1-af28129ed65f::" providerId="AD" clId="Web-{987CADC0-F4D4-4ACD-B5C4-E7D88A6A631B}" dt="2025-10-28T06:49:29.251" v="0"/>
      <pc:docMkLst>
        <pc:docMk/>
      </pc:docMkLst>
      <pc:sldChg chg="new">
        <pc:chgData name="Guest User" userId="S::urn:spo:tenantanon#3e7c9d67-afab-4694-94e1-af28129ed65f::" providerId="AD" clId="Web-{987CADC0-F4D4-4ACD-B5C4-E7D88A6A631B}" dt="2025-10-28T06:49:29.251" v="0"/>
        <pc:sldMkLst>
          <pc:docMk/>
          <pc:sldMk cId="452543007" sldId="621"/>
        </pc:sldMkLst>
      </pc:sldChg>
    </pc:docChg>
  </pc:docChgLst>
  <pc:docChgLst>
    <pc:chgData name="Guest User" userId="S::urn:spo:tenantanon#3e7c9d67-afab-4694-94e1-af28129ed65f::" providerId="AD" clId="Web-{D7031B37-CDDB-76A3-5EAC-45368755FFB1}"/>
    <pc:docChg chg="modSld">
      <pc:chgData name="Guest User" userId="S::urn:spo:tenantanon#3e7c9d67-afab-4694-94e1-af28129ed65f::" providerId="AD" clId="Web-{D7031B37-CDDB-76A3-5EAC-45368755FFB1}" dt="2025-10-30T12:18:59.347" v="1" actId="20577"/>
      <pc:docMkLst>
        <pc:docMk/>
      </pc:docMkLst>
      <pc:sldChg chg="modSp">
        <pc:chgData name="Guest User" userId="S::urn:spo:tenantanon#3e7c9d67-afab-4694-94e1-af28129ed65f::" providerId="AD" clId="Web-{D7031B37-CDDB-76A3-5EAC-45368755FFB1}" dt="2025-10-30T12:18:59.347" v="1" actId="20577"/>
        <pc:sldMkLst>
          <pc:docMk/>
          <pc:sldMk cId="4220769349" sldId="598"/>
        </pc:sldMkLst>
        <pc:spChg chg="mod">
          <ac:chgData name="Guest User" userId="S::urn:spo:tenantanon#3e7c9d67-afab-4694-94e1-af28129ed65f::" providerId="AD" clId="Web-{D7031B37-CDDB-76A3-5EAC-45368755FFB1}" dt="2025-10-30T12:18:59.347" v="1" actId="20577"/>
          <ac:spMkLst>
            <pc:docMk/>
            <pc:sldMk cId="4220769349" sldId="59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90801"/>
            <a:ext cx="10363200" cy="1470025"/>
          </a:xfrm>
          <a:effectLst/>
        </p:spPr>
        <p:txBody>
          <a:bodyPr/>
          <a:lstStyle>
            <a:lvl1pPr>
              <a:defRPr b="1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43400"/>
            <a:ext cx="8534400" cy="12192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F709E-F0CC-4EA0-89B7-297B0F6BC7C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89328"/>
      </p:ext>
    </p:extLst>
  </p:cSld>
  <p:clrMapOvr>
    <a:masterClrMapping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76200"/>
            <a:ext cx="10372436" cy="914400"/>
          </a:xfrm>
        </p:spPr>
        <p:txBody>
          <a:bodyPr/>
          <a:lstStyle>
            <a:lvl1pPr algn="l">
              <a:defRPr>
                <a:solidFill>
                  <a:srgbClr val="FFAA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rgbClr val="0070C0"/>
              </a:buClr>
              <a:buFont typeface="Wingdings" pitchFamily="2" charset="2"/>
              <a:buChar char="§"/>
              <a:defRPr>
                <a:solidFill>
                  <a:srgbClr val="0064A3"/>
                </a:solidFill>
              </a:defRPr>
            </a:lvl1pPr>
            <a:lvl2pPr marL="742950" indent="-285750">
              <a:buClr>
                <a:srgbClr val="C00000"/>
              </a:buClr>
              <a:buFont typeface="Wingdings" pitchFamily="2" charset="2"/>
              <a:buChar char="§"/>
              <a:defRPr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143000" indent="-228600">
              <a:buClr>
                <a:srgbClr val="FFC000"/>
              </a:buClr>
              <a:buFont typeface="Wingdings" pitchFamily="2" charset="2"/>
              <a:buChar char="§"/>
              <a:defRPr>
                <a:solidFill>
                  <a:srgbClr val="C00000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D014E8B-1505-49B7-8DC8-786E184F6FB5}" type="datetime1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2/13/2026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t>© embedUR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259796"/>
      </p:ext>
    </p:extLst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76200"/>
            <a:ext cx="10972800" cy="914400"/>
          </a:xfrm>
        </p:spPr>
        <p:txBody>
          <a:bodyPr/>
          <a:lstStyle>
            <a:lvl1pPr algn="l">
              <a:defRPr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 marL="342900" indent="-342900">
              <a:buClr>
                <a:srgbClr val="0070C0"/>
              </a:buClr>
              <a:buFont typeface="Wingdings" pitchFamily="2" charset="2"/>
              <a:buChar char="§"/>
              <a:defRPr sz="2600">
                <a:solidFill>
                  <a:srgbClr val="0064A3"/>
                </a:solidFill>
              </a:defRPr>
            </a:lvl1pPr>
            <a:lvl2pPr marL="742950" indent="-285750">
              <a:buClr>
                <a:srgbClr val="C00000"/>
              </a:buClr>
              <a:buFont typeface="Wingdings" pitchFamily="2" charset="2"/>
              <a:buChar char="§"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143000" indent="-228600">
              <a:buClr>
                <a:srgbClr val="FFC000"/>
              </a:buClr>
              <a:buFont typeface="Wingdings" pitchFamily="2" charset="2"/>
              <a:buChar char="§"/>
              <a:defRPr sz="2000">
                <a:solidFill>
                  <a:srgbClr val="C00000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 marL="342900" indent="-342900">
              <a:buClr>
                <a:srgbClr val="0070C0"/>
              </a:buClr>
              <a:buFont typeface="Wingdings" pitchFamily="2" charset="2"/>
              <a:buChar char="§"/>
              <a:defRPr sz="2600">
                <a:solidFill>
                  <a:srgbClr val="0064A3"/>
                </a:solidFill>
              </a:defRPr>
            </a:lvl1pPr>
            <a:lvl2pPr marL="742950" indent="-285750">
              <a:buClr>
                <a:srgbClr val="C00000"/>
              </a:buClr>
              <a:buFont typeface="Wingdings" pitchFamily="2" charset="2"/>
              <a:buChar char="§"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626D2-D4EB-44F2-A808-35392673F93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71075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76200"/>
            <a:ext cx="10972800" cy="914400"/>
          </a:xfrm>
        </p:spPr>
        <p:txBody>
          <a:bodyPr/>
          <a:lstStyle>
            <a:lvl1pPr algn="l">
              <a:defRPr>
                <a:solidFill>
                  <a:srgbClr val="FFAA0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199EF-9877-4535-929D-21842A8F699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190118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223C6-AF50-4D6F-AC2D-90DE4B47CA2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619380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0DD1C-D53E-4A7E-B0D8-50592BD5DCE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552598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4599C-F845-4C4D-A4E0-531ECD2CB5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162068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34EE-52EE-48EF-A17E-1BADEB8C26C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500607"/>
      </p:ext>
    </p:extLst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20DE-5315-45BF-811D-8D4D59331DF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261646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B9D03-EA5B-47B2-89DD-18E1E9EB27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302706"/>
      </p:ext>
    </p:extLst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3605A-280B-49A7-ABE5-8D3870637F4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710624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ADBC7-021D-4BB2-AFFE-FA7D81EDF38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© embedUR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18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 dir="r"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q0TLYXGQCA" TargetMode="External"/><Relationship Id="rId2" Type="http://schemas.openxmlformats.org/officeDocument/2006/relationships/hyperlink" Target="https://blogchiasekienthuc.wordpress.com/2016/06/23/path-of-a-packet-in-linux-kernel-stack-part-1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flylib.com/books/en/3.475.1/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08909" y="2411068"/>
            <a:ext cx="8174181" cy="1795402"/>
          </a:xfrm>
        </p:spPr>
        <p:txBody>
          <a:bodyPr>
            <a:normAutofit/>
          </a:bodyPr>
          <a:lstStyle/>
          <a:p>
            <a:r>
              <a:rPr lang="en-US" dirty="0"/>
              <a:t>Overview </a:t>
            </a:r>
            <a:r>
              <a:rPr lang="en-US"/>
              <a:t>of Linux </a:t>
            </a:r>
            <a:r>
              <a:rPr lang="en-US" dirty="0"/>
              <a:t>NSS, Network Device Driver</a:t>
            </a:r>
          </a:p>
        </p:txBody>
      </p:sp>
      <p:pic>
        <p:nvPicPr>
          <p:cNvPr id="1026" name="Picture 2" descr="C:\CAREER\Consulting Business\CUSTOMERS\EmbedUR\Logos\Logo Master\Web\EmbedUR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35841"/>
            <a:ext cx="3657600" cy="1954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BE7EDA5-7BA2-4425-AF79-C0D269F81FB1}"/>
              </a:ext>
            </a:extLst>
          </p:cNvPr>
          <p:cNvSpPr txBox="1">
            <a:spLocks/>
          </p:cNvSpPr>
          <p:nvPr/>
        </p:nvSpPr>
        <p:spPr>
          <a:xfrm>
            <a:off x="2209800" y="5052134"/>
            <a:ext cx="7772400" cy="147002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AA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j-ea"/>
                <a:cs typeface="+mj-cs"/>
              </a:rPr>
              <a:t>IMAGINE IT. 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j-ea"/>
                <a:cs typeface="+mj-cs"/>
              </a:rPr>
              <a:t>DONE.</a:t>
            </a:r>
            <a:endParaRPr kumimoji="0" lang="en-US" sz="4400" b="1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20769349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7517-FF9B-A8AA-B319-5DC5DA6A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65602-3EEA-7EB5-78E8-27AC4BF93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Linux Kernel Network Stack Architecture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dirty="0"/>
              <a:t>Kernel Network Layers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dirty="0"/>
              <a:t>Data Structure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US" dirty="0"/>
              <a:t>Network Device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US" dirty="0"/>
              <a:t>Socket Buffer</a:t>
            </a:r>
          </a:p>
          <a:p>
            <a:pPr lvl="1" indent="-342900">
              <a:buFont typeface="Arial" panose="020B0604020202020204" pitchFamily="34" charset="0"/>
              <a:buChar char="•"/>
            </a:pPr>
            <a:r>
              <a:rPr lang="en-US" dirty="0"/>
              <a:t>Network </a:t>
            </a:r>
            <a:r>
              <a:rPr lang="en-US" dirty="0" err="1"/>
              <a:t>Intermodule</a:t>
            </a:r>
            <a:r>
              <a:rPr lang="en-US" dirty="0"/>
              <a:t> Communication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US" dirty="0"/>
              <a:t>Socket Initialization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US" dirty="0" err="1"/>
              <a:t>Inet</a:t>
            </a:r>
            <a:r>
              <a:rPr lang="en-US" dirty="0"/>
              <a:t> Initialization</a:t>
            </a:r>
          </a:p>
          <a:p>
            <a:pPr lvl="2" indent="-342900">
              <a:buFont typeface="Arial" panose="020B0604020202020204" pitchFamily="34" charset="0"/>
              <a:buChar char="•"/>
            </a:pPr>
            <a:r>
              <a:rPr lang="en-US" dirty="0"/>
              <a:t>Socket Creation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Network </a:t>
            </a:r>
            <a:r>
              <a:rPr lang="en-US" dirty="0" err="1"/>
              <a:t>SubSystem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Network Drivers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E4C76-874D-49EE-9C99-64564FF3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8A5140-11EA-439E-83FB-BAB2F91F617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5667766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21BE1-07C4-CAF9-D04F-7E2F1AE72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9E8F05-CE78-BDD3-CD41-A0BBF5931976}"/>
              </a:ext>
            </a:extLst>
          </p:cNvPr>
          <p:cNvSpPr/>
          <p:nvPr/>
        </p:nvSpPr>
        <p:spPr>
          <a:xfrm>
            <a:off x="1693889" y="5876144"/>
            <a:ext cx="1760512" cy="4802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Physical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E09546-3294-34D0-913C-8E4D3BD606CC}"/>
              </a:ext>
            </a:extLst>
          </p:cNvPr>
          <p:cNvSpPr/>
          <p:nvPr/>
        </p:nvSpPr>
        <p:spPr>
          <a:xfrm>
            <a:off x="1693889" y="5169732"/>
            <a:ext cx="1760512" cy="4802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Data Link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92C8A2-986D-D271-5D9A-2F3EECA13C5C}"/>
              </a:ext>
            </a:extLst>
          </p:cNvPr>
          <p:cNvSpPr/>
          <p:nvPr/>
        </p:nvSpPr>
        <p:spPr>
          <a:xfrm>
            <a:off x="1693889" y="4409917"/>
            <a:ext cx="1760512" cy="4802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Network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AE246EA-1C50-EDAB-0B64-99CCDD801213}"/>
              </a:ext>
            </a:extLst>
          </p:cNvPr>
          <p:cNvSpPr/>
          <p:nvPr/>
        </p:nvSpPr>
        <p:spPr>
          <a:xfrm>
            <a:off x="1693889" y="3661343"/>
            <a:ext cx="1760512" cy="4802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Transport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31E16B-E793-9E75-5160-DC655973070C}"/>
              </a:ext>
            </a:extLst>
          </p:cNvPr>
          <p:cNvSpPr/>
          <p:nvPr/>
        </p:nvSpPr>
        <p:spPr>
          <a:xfrm>
            <a:off x="1693889" y="2895435"/>
            <a:ext cx="1760512" cy="4802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Session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183EB81-0C63-E086-E35A-F25A47E3EC48}"/>
              </a:ext>
            </a:extLst>
          </p:cNvPr>
          <p:cNvSpPr/>
          <p:nvPr/>
        </p:nvSpPr>
        <p:spPr>
          <a:xfrm>
            <a:off x="1693889" y="2129527"/>
            <a:ext cx="1760512" cy="4802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Presentation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7C4E0C-0197-77B1-8945-913C0A0BEC06}"/>
              </a:ext>
            </a:extLst>
          </p:cNvPr>
          <p:cNvSpPr/>
          <p:nvPr/>
        </p:nvSpPr>
        <p:spPr>
          <a:xfrm>
            <a:off x="1693889" y="1363619"/>
            <a:ext cx="1760512" cy="4802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Application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C4A5F9-60C2-C798-6FA1-653600507A84}"/>
              </a:ext>
            </a:extLst>
          </p:cNvPr>
          <p:cNvSpPr/>
          <p:nvPr/>
        </p:nvSpPr>
        <p:spPr>
          <a:xfrm>
            <a:off x="7857344" y="5876143"/>
            <a:ext cx="1760512" cy="4802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Physical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99740D4-0658-660E-AEA8-D358A26DBA1A}"/>
              </a:ext>
            </a:extLst>
          </p:cNvPr>
          <p:cNvSpPr/>
          <p:nvPr/>
        </p:nvSpPr>
        <p:spPr>
          <a:xfrm>
            <a:off x="7857344" y="4903240"/>
            <a:ext cx="1760512" cy="4802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L2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9CEFF85-20F9-BAC7-549C-38822266905B}"/>
              </a:ext>
            </a:extLst>
          </p:cNvPr>
          <p:cNvSpPr/>
          <p:nvPr/>
        </p:nvSpPr>
        <p:spPr>
          <a:xfrm>
            <a:off x="7857344" y="4199043"/>
            <a:ext cx="1760512" cy="4802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L3 (IPv4, IPv6)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09DE22B-6A40-F237-5C08-8CAFFCA5205F}"/>
              </a:ext>
            </a:extLst>
          </p:cNvPr>
          <p:cNvSpPr/>
          <p:nvPr/>
        </p:nvSpPr>
        <p:spPr>
          <a:xfrm>
            <a:off x="7857344" y="3417272"/>
            <a:ext cx="1760512" cy="4802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L4 (TCP/UDP,..)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D2223A-9356-D8AD-7EFB-1B8C3E006631}"/>
              </a:ext>
            </a:extLst>
          </p:cNvPr>
          <p:cNvSpPr/>
          <p:nvPr/>
        </p:nvSpPr>
        <p:spPr>
          <a:xfrm>
            <a:off x="7794467" y="1388741"/>
            <a:ext cx="1760512" cy="152487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User Space Application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E325851-9A65-7011-6C2A-8CAF98D5B902}"/>
              </a:ext>
            </a:extLst>
          </p:cNvPr>
          <p:cNvCxnSpPr/>
          <p:nvPr/>
        </p:nvCxnSpPr>
        <p:spPr>
          <a:xfrm>
            <a:off x="7585023" y="3135538"/>
            <a:ext cx="23984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AC5A78-595C-7BCC-FCD5-40532FF6D995}"/>
              </a:ext>
            </a:extLst>
          </p:cNvPr>
          <p:cNvCxnSpPr/>
          <p:nvPr/>
        </p:nvCxnSpPr>
        <p:spPr>
          <a:xfrm>
            <a:off x="7537969" y="5685011"/>
            <a:ext cx="23984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FE56124-0956-3681-650D-D742252D4EDA}"/>
              </a:ext>
            </a:extLst>
          </p:cNvPr>
          <p:cNvSpPr txBox="1"/>
          <p:nvPr/>
        </p:nvSpPr>
        <p:spPr>
          <a:xfrm>
            <a:off x="254833" y="46392"/>
            <a:ext cx="87692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Kernel Network Layers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BA1BEC-2931-BE92-7E16-45678B7B7F6D}"/>
              </a:ext>
            </a:extLst>
          </p:cNvPr>
          <p:cNvSpPr txBox="1"/>
          <p:nvPr/>
        </p:nvSpPr>
        <p:spPr>
          <a:xfrm>
            <a:off x="1693889" y="6488668"/>
            <a:ext cx="1886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OSI 7 Layer Model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81643E-863E-3E63-CDBE-4F23459A4F6D}"/>
              </a:ext>
            </a:extLst>
          </p:cNvPr>
          <p:cNvSpPr txBox="1"/>
          <p:nvPr/>
        </p:nvSpPr>
        <p:spPr>
          <a:xfrm>
            <a:off x="8413058" y="6506369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Linux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C6D9A1-91F8-2C85-E3B4-1A56477C2265}"/>
              </a:ext>
            </a:extLst>
          </p:cNvPr>
          <p:cNvSpPr txBox="1"/>
          <p:nvPr/>
        </p:nvSpPr>
        <p:spPr>
          <a:xfrm>
            <a:off x="6565692" y="5876143"/>
            <a:ext cx="1104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Hardware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2965C1-0B70-F2C8-A044-EAB1BDF1EC10}"/>
              </a:ext>
            </a:extLst>
          </p:cNvPr>
          <p:cNvSpPr txBox="1"/>
          <p:nvPr/>
        </p:nvSpPr>
        <p:spPr>
          <a:xfrm>
            <a:off x="6691575" y="3047940"/>
            <a:ext cx="78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CF057A-123F-7584-51AC-9BA13B8C6DFE}"/>
              </a:ext>
            </a:extLst>
          </p:cNvPr>
          <p:cNvSpPr txBox="1"/>
          <p:nvPr/>
        </p:nvSpPr>
        <p:spPr>
          <a:xfrm>
            <a:off x="6097247" y="3679885"/>
            <a:ext cx="10469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Kernel </a:t>
            </a:r>
            <a:br>
              <a:rPr lang="en-US" dirty="0"/>
            </a:br>
            <a:r>
              <a:rPr lang="en-US" dirty="0"/>
              <a:t>Network </a:t>
            </a:r>
            <a:br>
              <a:rPr lang="en-US" dirty="0"/>
            </a:br>
            <a:r>
              <a:rPr lang="en-US" dirty="0"/>
              <a:t>Stack</a:t>
            </a:r>
          </a:p>
        </p:txBody>
      </p:sp>
      <p:sp>
        <p:nvSpPr>
          <p:cNvPr id="33" name="Left Brace 32">
            <a:extLst>
              <a:ext uri="{FF2B5EF4-FFF2-40B4-BE49-F238E27FC236}">
                <a16:creationId xmlns:a16="http://schemas.microsoft.com/office/drawing/2014/main" id="{2E447946-8B5B-BC28-6CFF-B9C32E4A1DB5}"/>
              </a:ext>
            </a:extLst>
          </p:cNvPr>
          <p:cNvSpPr/>
          <p:nvPr/>
        </p:nvSpPr>
        <p:spPr>
          <a:xfrm>
            <a:off x="7144200" y="3608403"/>
            <a:ext cx="393769" cy="101566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09936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37E4D-EA2D-F6F6-9F8E-834DBBB8E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 network device interface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069248-8ED1-DB21-1570-5ECBE131E0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1536" y="1348678"/>
            <a:ext cx="7785366" cy="500767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C397A-E132-CB3E-2639-6352BA095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844490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44ED7-CE90-D57E-D11F-820861902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8DF0E-CE31-5767-D960-F5E8FD472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B486D-5EE5-05D2-3F2D-E2A6F827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5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543007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920B-04E6-279C-3837-6680956B9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Device Drivers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54D23-6A94-5B81-0301-A4BC62BCA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Manages interaction between NIC and software</a:t>
            </a:r>
          </a:p>
          <a:p>
            <a:r>
              <a:rPr lang="en-US" dirty="0"/>
              <a:t>NIC performs DMA of network packets into kernel memory</a:t>
            </a:r>
          </a:p>
          <a:p>
            <a:r>
              <a:rPr lang="en-US" dirty="0"/>
              <a:t>NIC raises interrupts to indicate packet </a:t>
            </a:r>
            <a:r>
              <a:rPr lang="en-US" dirty="0" err="1"/>
              <a:t>rx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6C190-6607-C8B7-F2FA-3F49B8EF2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192787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9C535-6BB4-D93E-DED6-F471CD9A8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 Handling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3C253-A88A-F3ED-5BFE-9221081C2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are interrupts handled ?</a:t>
            </a:r>
          </a:p>
          <a:p>
            <a:pPr lvl="1"/>
            <a:r>
              <a:rPr lang="en-US" dirty="0"/>
              <a:t>CPU is running process P and interrupt arrives</a:t>
            </a:r>
          </a:p>
          <a:p>
            <a:pPr lvl="1"/>
            <a:r>
              <a:rPr lang="en-US" dirty="0"/>
              <a:t>CPU saves context of P, runs OS code to handle interrupt in kernel mode</a:t>
            </a:r>
          </a:p>
          <a:p>
            <a:pPr lvl="1"/>
            <a:r>
              <a:rPr lang="en-US" dirty="0"/>
              <a:t>Restore context of P, resume in user mode</a:t>
            </a:r>
          </a:p>
          <a:p>
            <a:r>
              <a:rPr lang="en-US" dirty="0"/>
              <a:t>Interrupt handling code is part of OS device drivers</a:t>
            </a:r>
          </a:p>
          <a:p>
            <a:r>
              <a:rPr lang="en-US" dirty="0"/>
              <a:t>Network device drivers handle interrupts from NICs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CCCB0-2113-26E0-A1C9-A464C4DB6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921551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3B78-344B-105F-0000-072EBCE51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Interrupt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D0E17-CBA1-2D22-27E7-449B31A40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Interrupt handling from NIC has lot of work</a:t>
            </a:r>
          </a:p>
          <a:p>
            <a:pPr lvl="1"/>
            <a:r>
              <a:rPr lang="en-US" dirty="0"/>
              <a:t>Pkt processing, IP routing, TCP reliability and ..</a:t>
            </a:r>
          </a:p>
          <a:p>
            <a:r>
              <a:rPr lang="en-US" dirty="0"/>
              <a:t>To avoid excess disruption, interrupt handling split up in two parts</a:t>
            </a:r>
          </a:p>
          <a:p>
            <a:pPr lvl="1"/>
            <a:r>
              <a:rPr lang="en-US" dirty="0"/>
              <a:t>Top half interrupt, acknowledges interrupts and does minimal processing</a:t>
            </a:r>
          </a:p>
          <a:p>
            <a:pPr lvl="1"/>
            <a:r>
              <a:rPr lang="en-US" dirty="0"/>
              <a:t>Bottom half interrupt, scheduled by top half for full interrupt handling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BCADD-4C56-5142-877B-5B4BC195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497386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6AAB8-BFC2-3394-4F38-2BE2B44C9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Driver 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5F009-7620-767A-A8E0-59BC2C851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NIC and kernel exchange information about pkts via TX/RX rings</a:t>
            </a:r>
          </a:p>
          <a:p>
            <a:r>
              <a:rPr lang="en-US" dirty="0"/>
              <a:t>Ring : Contains pointers to </a:t>
            </a:r>
            <a:r>
              <a:rPr lang="en-US" dirty="0" err="1"/>
              <a:t>rx</a:t>
            </a:r>
            <a:r>
              <a:rPr lang="en-US" dirty="0"/>
              <a:t> packets</a:t>
            </a:r>
          </a:p>
          <a:p>
            <a:r>
              <a:rPr lang="en-US" dirty="0"/>
              <a:t>NIC does DMA, updates pointers in ring, interrupts</a:t>
            </a:r>
          </a:p>
          <a:p>
            <a:r>
              <a:rPr lang="en-US" dirty="0"/>
              <a:t>Top half does minimal processing, schedules bottom half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F170E-4C64-50C8-8968-80142B507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90137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4EA47-4B20-D5F6-F74C-C49E3BC1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 half interrupt handler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27CDA-0A59-B85F-DF8B-017F6B55C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runs when CPU is free</a:t>
            </a:r>
          </a:p>
          <a:p>
            <a:r>
              <a:rPr lang="en-US" dirty="0"/>
              <a:t>Process all pkts collected in the ring </a:t>
            </a:r>
          </a:p>
          <a:p>
            <a:r>
              <a:rPr lang="en-US" dirty="0"/>
              <a:t>Allocates </a:t>
            </a:r>
            <a:r>
              <a:rPr lang="en-US" dirty="0" err="1"/>
              <a:t>skb</a:t>
            </a:r>
            <a:r>
              <a:rPr lang="en-US" dirty="0"/>
              <a:t> structure for each pkt</a:t>
            </a:r>
          </a:p>
          <a:p>
            <a:r>
              <a:rPr lang="en-US" dirty="0" err="1"/>
              <a:t>Skb</a:t>
            </a:r>
            <a:r>
              <a:rPr lang="en-US" dirty="0"/>
              <a:t> contains pkt header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81835-324C-FEF1-E83C-CFC995CD6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43990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B5693-7E2E-6623-8AE3-8FD35694D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Packet copy to socket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20B07-6D6C-5451-A3F6-A7E4C1B21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 headers are used to map pkt to socket</a:t>
            </a:r>
          </a:p>
          <a:p>
            <a:r>
              <a:rPr lang="en-US" dirty="0"/>
              <a:t>On read from application, pkt gets copied from kernel to user memory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C54C5-8C0E-A77F-D044-568E476FA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560533"/>
      </p:ext>
    </p:extLst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7F6BB-A470-3BFC-9D41-DA49FB6A1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Overheads in the </a:t>
            </a:r>
            <a:r>
              <a:rPr lang="en-US" dirty="0" err="1"/>
              <a:t>linux</a:t>
            </a:r>
            <a:r>
              <a:rPr lang="en-US" dirty="0"/>
              <a:t> network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3D7D3-CED8-10A2-6F63-DDA9423BE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Interrupt handling, transition across user and kernel mode</a:t>
            </a:r>
          </a:p>
          <a:p>
            <a:r>
              <a:rPr lang="en-US" dirty="0"/>
              <a:t>Context switching from application to kernel process</a:t>
            </a:r>
          </a:p>
          <a:p>
            <a:r>
              <a:rPr lang="en-US" dirty="0"/>
              <a:t>Packet copy from kernel space to user space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1593B-2ECA-75FB-1BBD-4FD3FC4E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290556"/>
      </p:ext>
    </p:extLst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696D4-ACDD-3B9F-60BD-38CF80FBF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4A19-C496-8401-9FAF-7480FD3BD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 I/O techniques</a:t>
            </a:r>
          </a:p>
          <a:p>
            <a:pPr lvl="1"/>
            <a:r>
              <a:rPr lang="en-US" dirty="0"/>
              <a:t>In-Kernel Program offload</a:t>
            </a:r>
          </a:p>
          <a:p>
            <a:pPr lvl="1"/>
            <a:r>
              <a:rPr lang="en-US" dirty="0"/>
              <a:t>Kernel bypassing</a:t>
            </a:r>
          </a:p>
          <a:p>
            <a:pPr lvl="1"/>
            <a:r>
              <a:rPr lang="en-US" dirty="0"/>
              <a:t>Hardware Offload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62DD4-792A-AEE6-28BF-55E92D9F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040612"/>
      </p:ext>
    </p:extLst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1944EA-A7B3-E553-7500-AC607CF63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Device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F7234-35B0-051F-DA27-28C734206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net_device</a:t>
            </a:r>
            <a:r>
              <a:rPr lang="en-US" dirty="0"/>
              <a:t> – Defines an instance of network interface</a:t>
            </a:r>
          </a:p>
          <a:p>
            <a:r>
              <a:rPr lang="en-US" dirty="0"/>
              <a:t>Tracks the information of all network interfaces</a:t>
            </a:r>
          </a:p>
          <a:p>
            <a:r>
              <a:rPr lang="en-US" dirty="0"/>
              <a:t>Large structure, consisting device params like</a:t>
            </a:r>
          </a:p>
          <a:p>
            <a:pPr lvl="1"/>
            <a:r>
              <a:rPr lang="en-US" dirty="0"/>
              <a:t>MAC</a:t>
            </a:r>
          </a:p>
          <a:p>
            <a:pPr lvl="1"/>
            <a:r>
              <a:rPr lang="en-US" dirty="0"/>
              <a:t>MTU</a:t>
            </a:r>
          </a:p>
          <a:p>
            <a:pPr lvl="1"/>
            <a:r>
              <a:rPr lang="en-US" dirty="0"/>
              <a:t>Driver callback operations</a:t>
            </a:r>
          </a:p>
          <a:p>
            <a:pPr lvl="1"/>
            <a:r>
              <a:rPr lang="en-US" dirty="0"/>
              <a:t>Name of the device</a:t>
            </a:r>
          </a:p>
          <a:p>
            <a:pPr lvl="1"/>
            <a:r>
              <a:rPr lang="en-US" dirty="0"/>
              <a:t>Flags of the device</a:t>
            </a:r>
          </a:p>
          <a:p>
            <a:pPr lvl="1"/>
            <a:r>
              <a:rPr lang="en-US" dirty="0"/>
              <a:t>IRQ number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FA746A-BD00-49EF-1BA9-634D8CCD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510550"/>
      </p:ext>
    </p:extLst>
  </p:cSld>
  <p:clrMapOvr>
    <a:masterClrMapping/>
  </p:clrMapOvr>
  <p:transition spd="slow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FDF44-9B30-7828-C333-B925A2B58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Register/Unregister callbacks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74A7E-BABC-FEE5-CD44-5E17E7A28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Src</a:t>
            </a:r>
            <a:r>
              <a:rPr lang="en-US" dirty="0"/>
              <a:t> code : include/</a:t>
            </a:r>
            <a:r>
              <a:rPr lang="en-US" dirty="0" err="1"/>
              <a:t>linux</a:t>
            </a:r>
            <a:r>
              <a:rPr lang="en-US" dirty="0"/>
              <a:t>/</a:t>
            </a:r>
            <a:r>
              <a:rPr lang="en-US" dirty="0" err="1"/>
              <a:t>netdevice.h</a:t>
            </a:r>
            <a:endParaRPr lang="en-US" dirty="0"/>
          </a:p>
          <a:p>
            <a:r>
              <a:rPr lang="en-US" dirty="0"/>
              <a:t>Allocate </a:t>
            </a:r>
            <a:r>
              <a:rPr lang="en-US" dirty="0" err="1"/>
              <a:t>net_device</a:t>
            </a:r>
            <a:endParaRPr lang="en-US" dirty="0"/>
          </a:p>
          <a:p>
            <a:r>
              <a:rPr lang="en-US" dirty="0"/>
              <a:t>Register </a:t>
            </a:r>
            <a:r>
              <a:rPr lang="en-US" dirty="0" err="1"/>
              <a:t>net_device</a:t>
            </a:r>
            <a:endParaRPr lang="en-US" dirty="0"/>
          </a:p>
          <a:p>
            <a:r>
              <a:rPr lang="en-US" dirty="0"/>
              <a:t>Unregister </a:t>
            </a:r>
            <a:r>
              <a:rPr lang="en-US" dirty="0" err="1"/>
              <a:t>net_device</a:t>
            </a:r>
            <a:endParaRPr lang="en-US" dirty="0"/>
          </a:p>
          <a:p>
            <a:r>
              <a:rPr lang="en-US" dirty="0"/>
              <a:t>Free </a:t>
            </a:r>
            <a:r>
              <a:rPr lang="en-US" dirty="0" err="1"/>
              <a:t>net_device</a:t>
            </a:r>
            <a:endParaRPr lang="en-US" dirty="0"/>
          </a:p>
          <a:p>
            <a:r>
              <a:rPr lang="en-US" dirty="0"/>
              <a:t>Network device operations </a:t>
            </a:r>
            <a:r>
              <a:rPr lang="en-US" dirty="0">
                <a:sym typeface="Wingdings" panose="05000000000000000000" pitchFamily="2" charset="2"/>
              </a:rPr>
              <a:t> struct </a:t>
            </a:r>
            <a:r>
              <a:rPr lang="en-US" dirty="0" err="1">
                <a:sym typeface="Wingdings" panose="05000000000000000000" pitchFamily="2" charset="2"/>
              </a:rPr>
              <a:t>net_device_ops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 err="1">
                <a:sym typeface="Wingdings" panose="05000000000000000000" pitchFamily="2" charset="2"/>
              </a:rPr>
              <a:t>netdevice.h</a:t>
            </a:r>
            <a:r>
              <a:rPr lang="en-US" dirty="0">
                <a:sym typeface="Wingdings" panose="05000000000000000000" pitchFamily="2" charset="2"/>
              </a:rPr>
              <a:t>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EEDDB-CF48-708C-3800-3D850B13C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15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034147"/>
      </p:ext>
    </p:extLst>
  </p:cSld>
  <p:clrMapOvr>
    <a:masterClrMapping/>
  </p:clrMapOvr>
  <p:transition spd="slow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12ED-67FC-FCBB-8FD9-62BA17B48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Device Operations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D551D6B-9B4D-DC41-C6C8-82489C41B9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3140638"/>
              </p:ext>
            </p:extLst>
          </p:nvPr>
        </p:nvGraphicFramePr>
        <p:xfrm>
          <a:off x="609600" y="1600199"/>
          <a:ext cx="10972800" cy="448580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1550579443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96532744"/>
                    </a:ext>
                  </a:extLst>
                </a:gridCol>
              </a:tblGrid>
              <a:tr h="560726">
                <a:tc>
                  <a:txBody>
                    <a:bodyPr/>
                    <a:lstStyle/>
                    <a:p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713797"/>
                  </a:ext>
                </a:extLst>
              </a:tr>
              <a:tr h="560726">
                <a:tc>
                  <a:txBody>
                    <a:bodyPr/>
                    <a:lstStyle/>
                    <a:p>
                      <a:r>
                        <a:rPr lang="en-US" dirty="0" err="1"/>
                        <a:t>Ndo_open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Called when n/w IF is 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8803008"/>
                  </a:ext>
                </a:extLst>
              </a:tr>
              <a:tr h="560726">
                <a:tc>
                  <a:txBody>
                    <a:bodyPr/>
                    <a:lstStyle/>
                    <a:p>
                      <a:r>
                        <a:rPr lang="en-US" dirty="0" err="1"/>
                        <a:t>Ndo_close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Called when n/w IF is down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9206771"/>
                  </a:ext>
                </a:extLst>
              </a:tr>
              <a:tr h="560726">
                <a:tc>
                  <a:txBody>
                    <a:bodyPr/>
                    <a:lstStyle/>
                    <a:p>
                      <a:r>
                        <a:rPr lang="en-US" dirty="0" err="1"/>
                        <a:t>Ndo_start_xmit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Start pkt </a:t>
                      </a:r>
                      <a:r>
                        <a:rPr lang="en-US" dirty="0" err="1"/>
                        <a:t>tx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395915"/>
                  </a:ext>
                </a:extLst>
              </a:tr>
              <a:tr h="560726">
                <a:tc>
                  <a:txBody>
                    <a:bodyPr/>
                    <a:lstStyle/>
                    <a:p>
                      <a:r>
                        <a:rPr lang="en-US" dirty="0" err="1"/>
                        <a:t>Ndo_get_stats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 statistics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6975131"/>
                  </a:ext>
                </a:extLst>
              </a:tr>
              <a:tr h="560726">
                <a:tc>
                  <a:txBody>
                    <a:bodyPr/>
                    <a:lstStyle/>
                    <a:p>
                      <a:r>
                        <a:rPr lang="en-US" dirty="0" err="1"/>
                        <a:t>Ndo_do_ioctl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Implement device specific operations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404134"/>
                  </a:ext>
                </a:extLst>
              </a:tr>
              <a:tr h="560726">
                <a:tc>
                  <a:txBody>
                    <a:bodyPr/>
                    <a:lstStyle/>
                    <a:p>
                      <a:r>
                        <a:rPr lang="en-US" dirty="0" err="1"/>
                        <a:t>Ndo_set_rx_mode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 promiscuous, multicast </a:t>
                      </a:r>
                      <a:r>
                        <a:rPr lang="en-US" dirty="0" err="1"/>
                        <a:t>etc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8255898"/>
                  </a:ext>
                </a:extLst>
              </a:tr>
              <a:tr h="560726">
                <a:tc>
                  <a:txBody>
                    <a:bodyPr/>
                    <a:lstStyle/>
                    <a:p>
                      <a:r>
                        <a:rPr lang="en-US" dirty="0" err="1"/>
                        <a:t>Ndo_set_mac_address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Set mac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559545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C235D-7BA9-6C27-3AC7-ECBF8F9ED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16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462686"/>
      </p:ext>
    </p:extLst>
  </p:cSld>
  <p:clrMapOvr>
    <a:masterClrMapping/>
  </p:clrMapOvr>
  <p:transition spd="slow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74B81-A2A3-B764-009F-838BA5CCF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Buffer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F0BD0-DE90-106D-C6C1-CD6B2341B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181599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sk_buff</a:t>
            </a:r>
            <a:r>
              <a:rPr lang="en-US" dirty="0"/>
              <a:t> – Represents an incoming or outgoing packet</a:t>
            </a:r>
          </a:p>
          <a:p>
            <a:pPr lvl="1"/>
            <a:r>
              <a:rPr lang="en-US" dirty="0"/>
              <a:t>Supports encapsulation/decapsulation through protocol layers</a:t>
            </a:r>
          </a:p>
          <a:p>
            <a:r>
              <a:rPr lang="en-US" dirty="0"/>
              <a:t>It is the core data structure of Linux Network Stack </a:t>
            </a:r>
          </a:p>
          <a:p>
            <a:r>
              <a:rPr lang="en-US" dirty="0" err="1"/>
              <a:t>Src</a:t>
            </a:r>
            <a:r>
              <a:rPr lang="en-US" dirty="0"/>
              <a:t> code -&gt; include/</a:t>
            </a:r>
            <a:r>
              <a:rPr lang="en-US" dirty="0" err="1"/>
              <a:t>linux</a:t>
            </a:r>
            <a:r>
              <a:rPr lang="en-US" dirty="0"/>
              <a:t>/</a:t>
            </a:r>
            <a:r>
              <a:rPr lang="en-US" dirty="0" err="1"/>
              <a:t>sk_buff.h</a:t>
            </a:r>
            <a:endParaRPr lang="en-US" dirty="0"/>
          </a:p>
          <a:p>
            <a:r>
              <a:rPr lang="en-US" dirty="0" err="1"/>
              <a:t>Sk_buff</a:t>
            </a:r>
            <a:r>
              <a:rPr lang="en-US" dirty="0"/>
              <a:t> maintains</a:t>
            </a:r>
          </a:p>
          <a:p>
            <a:pPr lvl="1"/>
            <a:r>
              <a:rPr lang="en-US" dirty="0"/>
              <a:t>Head</a:t>
            </a:r>
          </a:p>
          <a:p>
            <a:pPr lvl="1"/>
            <a:r>
              <a:rPr lang="en-US" dirty="0"/>
              <a:t>Tail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End</a:t>
            </a:r>
          </a:p>
          <a:p>
            <a:pPr lvl="1"/>
            <a:r>
              <a:rPr lang="en-US" dirty="0"/>
              <a:t>Len</a:t>
            </a:r>
          </a:p>
          <a:p>
            <a:pPr marL="514350" indent="-457200"/>
            <a:r>
              <a:rPr lang="en-US" dirty="0"/>
              <a:t>These fields are manipulated when packet passes through the protocol layers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074E37-0AE7-5AEB-DC89-CF6F18E8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17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872151"/>
      </p:ext>
    </p:extLst>
  </p:cSld>
  <p:clrMapOvr>
    <a:masterClrMapping/>
  </p:clrMapOvr>
  <p:transition spd="slow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41B6B-EEEF-1D32-7399-D17E848A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Buffer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1D469-9037-E279-22F6-A33674978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73087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5F077-0CAB-AA26-86DA-D653939CF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18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18FEBE-6489-A802-026B-9991EAA89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28" y="1372969"/>
            <a:ext cx="9904143" cy="4494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033055"/>
      </p:ext>
    </p:extLst>
  </p:cSld>
  <p:clrMapOvr>
    <a:masterClrMapping/>
  </p:clrMapOvr>
  <p:transition spd="slow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46AAF-72C8-C3B7-F768-85ADC18DE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Socket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1E3CB-9093-AA47-9A4D-C416FB7C1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D5BC1-EFB5-7F9B-70FB-F31CAFF1D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19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52E125-1F8D-FD55-A0C5-AD90D0545E04}"/>
              </a:ext>
            </a:extLst>
          </p:cNvPr>
          <p:cNvSpPr/>
          <p:nvPr/>
        </p:nvSpPr>
        <p:spPr>
          <a:xfrm>
            <a:off x="1161143" y="1770743"/>
            <a:ext cx="1654628" cy="4499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F01920-54C2-2C8E-47C9-2CB3FBBA0919}"/>
              </a:ext>
            </a:extLst>
          </p:cNvPr>
          <p:cNvSpPr/>
          <p:nvPr/>
        </p:nvSpPr>
        <p:spPr>
          <a:xfrm>
            <a:off x="1161143" y="2934494"/>
            <a:ext cx="1654628" cy="4499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inet6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DF0BEE-C24C-E5F3-7354-A7AE2C083543}"/>
              </a:ext>
            </a:extLst>
          </p:cNvPr>
          <p:cNvSpPr/>
          <p:nvPr/>
        </p:nvSpPr>
        <p:spPr>
          <a:xfrm>
            <a:off x="1161143" y="2318656"/>
            <a:ext cx="1654628" cy="4499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inet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2FD247-9251-9561-C578-9503E6D3FBCF}"/>
              </a:ext>
            </a:extLst>
          </p:cNvPr>
          <p:cNvSpPr/>
          <p:nvPr/>
        </p:nvSpPr>
        <p:spPr>
          <a:xfrm>
            <a:off x="3926114" y="1770743"/>
            <a:ext cx="1654628" cy="4499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sock_init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CB819C-AE39-71B5-2F4D-643D7C606A9E}"/>
              </a:ext>
            </a:extLst>
          </p:cNvPr>
          <p:cNvCxnSpPr>
            <a:stCxn id="8" idx="3"/>
          </p:cNvCxnSpPr>
          <p:nvPr/>
        </p:nvCxnSpPr>
        <p:spPr>
          <a:xfrm flipV="1">
            <a:off x="5580742" y="1995714"/>
            <a:ext cx="64588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AE15AEC-DD42-EDC2-3965-972DCD8D1056}"/>
              </a:ext>
            </a:extLst>
          </p:cNvPr>
          <p:cNvSpPr/>
          <p:nvPr/>
        </p:nvSpPr>
        <p:spPr>
          <a:xfrm>
            <a:off x="6226629" y="1770743"/>
            <a:ext cx="1654628" cy="4499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inet_init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DD3108-1186-FB7C-DA93-F5F4F15EE702}"/>
              </a:ext>
            </a:extLst>
          </p:cNvPr>
          <p:cNvSpPr/>
          <p:nvPr/>
        </p:nvSpPr>
        <p:spPr>
          <a:xfrm>
            <a:off x="8527144" y="1770743"/>
            <a:ext cx="1654628" cy="4499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sock_register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686CC4-68B6-13B7-62DA-2185DA1C291C}"/>
              </a:ext>
            </a:extLst>
          </p:cNvPr>
          <p:cNvCxnSpPr/>
          <p:nvPr/>
        </p:nvCxnSpPr>
        <p:spPr>
          <a:xfrm flipV="1">
            <a:off x="7881257" y="1995713"/>
            <a:ext cx="64588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AABB40A-5C79-2535-9E3C-AA4BE2927354}"/>
              </a:ext>
            </a:extLst>
          </p:cNvPr>
          <p:cNvSpPr/>
          <p:nvPr/>
        </p:nvSpPr>
        <p:spPr>
          <a:xfrm>
            <a:off x="8737600" y="4093029"/>
            <a:ext cx="2142837" cy="136434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Registers with socket sub module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4D3FD26-4EB5-90B5-5B73-8324E847B5F0}"/>
              </a:ext>
            </a:extLst>
          </p:cNvPr>
          <p:cNvSpPr/>
          <p:nvPr/>
        </p:nvSpPr>
        <p:spPr>
          <a:xfrm>
            <a:off x="5903685" y="3272973"/>
            <a:ext cx="2142837" cy="136434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Registers lower layer protocols like UDP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C3ADC2-455F-67BC-E13F-4B3D71D1B8AE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6975103" y="2220686"/>
            <a:ext cx="78840" cy="1052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FA26096-5707-2AE7-14AB-18449F2B76E6}"/>
              </a:ext>
            </a:extLst>
          </p:cNvPr>
          <p:cNvCxnSpPr/>
          <p:nvPr/>
        </p:nvCxnSpPr>
        <p:spPr>
          <a:xfrm>
            <a:off x="9354458" y="2220686"/>
            <a:ext cx="454560" cy="18723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23880"/>
      </p:ext>
    </p:extLst>
  </p:cSld>
  <p:clrMapOvr>
    <a:masterClrMapping/>
  </p:clrMapOvr>
  <p:transition spd="slow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D93E5-B155-B108-1322-B7B97C7FA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SKB Operations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93154-B337-1245-F6AC-50A814448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Allocation</a:t>
            </a:r>
          </a:p>
          <a:p>
            <a:pPr lvl="1"/>
            <a:r>
              <a:rPr lang="en-US" dirty="0"/>
              <a:t>By </a:t>
            </a:r>
            <a:r>
              <a:rPr lang="en-US" dirty="0" err="1"/>
              <a:t>dev_alloc_skb</a:t>
            </a:r>
            <a:r>
              <a:rPr lang="en-US" dirty="0"/>
              <a:t>() function</a:t>
            </a:r>
          </a:p>
          <a:p>
            <a:pPr lvl="1"/>
            <a:r>
              <a:rPr lang="en-US" dirty="0"/>
              <a:t>Can be done in ISR</a:t>
            </a:r>
          </a:p>
          <a:p>
            <a:r>
              <a:rPr lang="en-US" dirty="0"/>
              <a:t>Reservation</a:t>
            </a:r>
          </a:p>
          <a:p>
            <a:pPr lvl="1"/>
            <a:r>
              <a:rPr lang="en-US" dirty="0"/>
              <a:t>By </a:t>
            </a:r>
            <a:r>
              <a:rPr lang="en-US" dirty="0" err="1"/>
              <a:t>skb_reserve</a:t>
            </a:r>
            <a:r>
              <a:rPr lang="en-US" dirty="0"/>
              <a:t>() function</a:t>
            </a:r>
          </a:p>
          <a:p>
            <a:pPr marL="514350" indent="-457200"/>
            <a:r>
              <a:rPr lang="en-US" dirty="0"/>
              <a:t>Data copying</a:t>
            </a:r>
          </a:p>
          <a:p>
            <a:pPr marL="914400" lvl="1" indent="-457200"/>
            <a:r>
              <a:rPr lang="en-US" dirty="0"/>
              <a:t>From DMA buffer to SKB during reception</a:t>
            </a:r>
          </a:p>
          <a:p>
            <a:pPr marL="914400" lvl="1" indent="-457200"/>
            <a:r>
              <a:rPr lang="en-US" dirty="0"/>
              <a:t>SKB to DMA buffer during reception 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FD2DF7-669F-0251-9308-22572A8A7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20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14786"/>
      </p:ext>
    </p:extLst>
  </p:cSld>
  <p:clrMapOvr>
    <a:masterClrMapping/>
  </p:clrMapOvr>
  <p:transition spd="slow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D7A4D-5759-2D4D-5040-8BAB78040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 control functions	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0670343-933F-3789-E79F-DF85801A50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8440340"/>
              </p:ext>
            </p:extLst>
          </p:nvPr>
        </p:nvGraphicFramePr>
        <p:xfrm>
          <a:off x="609600" y="1600200"/>
          <a:ext cx="10972800" cy="222504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1488437858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58858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26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Netif_start_queue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Tells the kernel that driver is ready to send the pkts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370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Netif_stop_queue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Tells the kernel to stop sending the pkts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9904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Netif_queue_stopped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Tells whether queue is stopped or 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3938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Netif_wake_queue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Wakes up queue after </a:t>
                      </a:r>
                      <a:r>
                        <a:rPr lang="en-US" dirty="0" err="1"/>
                        <a:t>netif_stop_queue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861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Netif_rx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Gives </a:t>
                      </a:r>
                      <a:r>
                        <a:rPr lang="en-US" dirty="0" err="1"/>
                        <a:t>skb</a:t>
                      </a:r>
                      <a:r>
                        <a:rPr lang="en-US" dirty="0"/>
                        <a:t> to kernel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28006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69B2-6E62-6903-D898-A5F1701F6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929604"/>
      </p:ext>
    </p:extLst>
  </p:cSld>
  <p:clrMapOvr>
    <a:masterClrMapping/>
  </p:clrMapOvr>
  <p:transition spd="slow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613D8-1739-319F-1AD6-A1A88AAA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Transmission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C0ACD-F824-BE2F-4931-CB0FB7A4A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Kernel calls </a:t>
            </a:r>
            <a:r>
              <a:rPr lang="en-US" dirty="0" err="1"/>
              <a:t>ndo_start_xmit</a:t>
            </a:r>
            <a:r>
              <a:rPr lang="en-US" dirty="0"/>
              <a:t>() with SKB as an arg</a:t>
            </a:r>
          </a:p>
          <a:p>
            <a:r>
              <a:rPr lang="en-US" dirty="0" err="1"/>
              <a:t>Ndo_start_xmit</a:t>
            </a:r>
            <a:r>
              <a:rPr lang="en-US" dirty="0"/>
              <a:t>():</a:t>
            </a:r>
          </a:p>
          <a:p>
            <a:pPr lvl="1"/>
            <a:r>
              <a:rPr lang="en-US" dirty="0"/>
              <a:t>Sets up DMA buffers and other HW mechanisms</a:t>
            </a:r>
          </a:p>
          <a:p>
            <a:pPr lvl="1"/>
            <a:r>
              <a:rPr lang="en-US" dirty="0"/>
              <a:t>Starts Tx</a:t>
            </a:r>
          </a:p>
          <a:p>
            <a:pPr lvl="1"/>
            <a:r>
              <a:rPr lang="en-US" dirty="0"/>
              <a:t>Can stop queueing if no free DMA buffers available </a:t>
            </a:r>
          </a:p>
          <a:p>
            <a:pPr lvl="1"/>
            <a:r>
              <a:rPr lang="en-US" dirty="0"/>
              <a:t>Returns NETDEV_TX_OK or NETDEV_TX_BUSY</a:t>
            </a:r>
          </a:p>
          <a:p>
            <a:r>
              <a:rPr lang="en-US" dirty="0"/>
              <a:t>When N pkts are sent, an interrupt is raised and the driver should:</a:t>
            </a:r>
          </a:p>
          <a:p>
            <a:pPr lvl="1"/>
            <a:r>
              <a:rPr lang="en-US" dirty="0"/>
              <a:t>Acknowledging interrupt</a:t>
            </a:r>
          </a:p>
          <a:p>
            <a:pPr lvl="1"/>
            <a:r>
              <a:rPr lang="en-US" dirty="0"/>
              <a:t>Freeing used up DMA buffers</a:t>
            </a:r>
          </a:p>
          <a:p>
            <a:pPr lvl="1"/>
            <a:r>
              <a:rPr lang="en-US" dirty="0"/>
              <a:t>Freeing SKB </a:t>
            </a:r>
          </a:p>
          <a:p>
            <a:pPr lvl="1"/>
            <a:r>
              <a:rPr lang="en-US" dirty="0"/>
              <a:t>If the queue was stopped, start it again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DC114-D55D-DD50-931E-0BCCE7FBC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283087"/>
      </p:ext>
    </p:extLst>
  </p:cSld>
  <p:clrMapOvr>
    <a:masterClrMapping/>
  </p:clrMapOvr>
  <p:transition spd="slow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88E52-9801-4BC6-4FD2-42228FF1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Reception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6DA4F-A0E4-2B73-FFD3-A9589B3CA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Interrupt vs Polled mode</a:t>
            </a:r>
          </a:p>
          <a:p>
            <a:r>
              <a:rPr lang="en-US" dirty="0"/>
              <a:t>Copy pkt from DMA buffers to SKB</a:t>
            </a:r>
          </a:p>
          <a:p>
            <a:r>
              <a:rPr lang="en-US" dirty="0"/>
              <a:t>Update SKB pointers</a:t>
            </a:r>
          </a:p>
          <a:p>
            <a:r>
              <a:rPr lang="en-US" dirty="0"/>
              <a:t>Give SKB to kernel by </a:t>
            </a:r>
            <a:r>
              <a:rPr lang="en-US" dirty="0" err="1"/>
              <a:t>netif_rx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E5C1D-0CC1-86EB-801A-B00ECBD73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23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5007279"/>
      </p:ext>
    </p:extLst>
  </p:cSld>
  <p:clrMapOvr>
    <a:masterClrMapping/>
  </p:clrMapOvr>
  <p:transition spd="slow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D38D1-7BD2-E1D1-607D-9245C539F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FE67D-6CBC-9C3C-199F-0DA36CB4E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https://blogchiasekienthuc.wordpress.com/2016/06/23/path-of-a-packet-in-linux-kernel-stack-part-1/</a:t>
            </a:r>
            <a:endParaRPr lang="en-US" dirty="0"/>
          </a:p>
          <a:p>
            <a:r>
              <a:rPr lang="en-US" dirty="0">
                <a:hlinkClick r:id="rId3"/>
              </a:rPr>
              <a:t>https://www.youtube.com/watch?v=aq0TLYXGQCA</a:t>
            </a:r>
            <a:endParaRPr lang="en-US" dirty="0"/>
          </a:p>
          <a:p>
            <a:r>
              <a:rPr lang="en-US" dirty="0">
                <a:hlinkClick r:id="rId4"/>
              </a:rPr>
              <a:t>https://flylib.com/books/en/3.475.1/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6CAE5-C970-EF94-479F-121FC3D3E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24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6736301"/>
      </p:ext>
    </p:extLst>
  </p:cSld>
  <p:clrMapOvr>
    <a:masterClrMapping/>
  </p:clrMapOvr>
  <p:transition spd="slow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1571-37F9-B350-4765-458D1245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FB3E-7969-88B3-8C8A-9948B4F29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6000" dirty="0"/>
          </a:p>
          <a:p>
            <a:pPr marL="0" indent="0" algn="ctr">
              <a:buNone/>
            </a:pPr>
            <a:r>
              <a:rPr lang="en-US" sz="6000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0CCA9-ACB4-C4F0-5A79-D0396496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A5140-11EA-439E-83FB-BAB2F91F617B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/>
              <a:t>25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001601"/>
      </p:ext>
    </p:extLst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C931246BAB1346A19549D6C7D34CA3" ma:contentTypeVersion="18" ma:contentTypeDescription="Create a new document." ma:contentTypeScope="" ma:versionID="59d431cb2a96c6d5a3beedd54a0a4a77">
  <xsd:schema xmlns:xsd="http://www.w3.org/2001/XMLSchema" xmlns:xs="http://www.w3.org/2001/XMLSchema" xmlns:p="http://schemas.microsoft.com/office/2006/metadata/properties" xmlns:ns2="995162d7-0d1e-4f25-a29c-902ea0bfb1ff" xmlns:ns3="3f810e55-39ab-4841-8cfd-14019ee9cec2" targetNamespace="http://schemas.microsoft.com/office/2006/metadata/properties" ma:root="true" ma:fieldsID="aae3d04ac70d1db6b2a3638521c9db09" ns2:_="" ns3:_="">
    <xsd:import namespace="995162d7-0d1e-4f25-a29c-902ea0bfb1ff"/>
    <xsd:import namespace="3f810e55-39ab-4841-8cfd-14019ee9ce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5162d7-0d1e-4f25-a29c-902ea0bfb1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cca0b37-dc92-4750-b2e6-91c94c0d26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810e55-39ab-4841-8cfd-14019ee9cec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5f64db8-adf5-4b84-bef8-7d1c396ccbd3}" ma:internalName="TaxCatchAll" ma:showField="CatchAllData" ma:web="3f810e55-39ab-4841-8cfd-14019ee9ce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810e55-39ab-4841-8cfd-14019ee9cec2" xsi:nil="true"/>
    <lcf76f155ced4ddcb4097134ff3c332f xmlns="995162d7-0d1e-4f25-a29c-902ea0bfb1f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05A6C8C-B3C9-45C0-8DA6-8DB2273895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5162d7-0d1e-4f25-a29c-902ea0bfb1ff"/>
    <ds:schemaRef ds:uri="3f810e55-39ab-4841-8cfd-14019ee9ce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3C77CF-BB2E-4F1A-A3F4-D2A19638DD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B32C0A-C567-4C9E-B0AD-11985C2E97A7}">
  <ds:schemaRefs>
    <ds:schemaRef ds:uri="daac79c7-828f-404a-a71e-76fe7a51a95f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7f2b4b51-d27d-4121-9ed3-82db5ec03172"/>
    <ds:schemaRef ds:uri="http://schemas.microsoft.com/office/2006/metadata/properties"/>
    <ds:schemaRef ds:uri="http://www.w3.org/XML/1998/namespace"/>
    <ds:schemaRef ds:uri="3f810e55-39ab-4841-8cfd-14019ee9cec2"/>
    <ds:schemaRef ds:uri="995162d7-0d1e-4f25-a29c-902ea0bfb1f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8916</TotalTime>
  <Words>907</Words>
  <Application>Microsoft Office PowerPoint</Application>
  <PresentationFormat>Widescreen</PresentationFormat>
  <Paragraphs>198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Wingdings</vt:lpstr>
      <vt:lpstr>1_Office Theme</vt:lpstr>
      <vt:lpstr>Overview of Linux NSS, Network Device Driver</vt:lpstr>
      <vt:lpstr>Contents</vt:lpstr>
      <vt:lpstr>PowerPoint Presentation</vt:lpstr>
      <vt:lpstr>Structure of a network device interface</vt:lpstr>
      <vt:lpstr>PowerPoint Presentation</vt:lpstr>
      <vt:lpstr>Network Device Drivers</vt:lpstr>
      <vt:lpstr>Interrupt Handling </vt:lpstr>
      <vt:lpstr>Network Interrupt Handling</vt:lpstr>
      <vt:lpstr>Device Driver rings</vt:lpstr>
      <vt:lpstr>Bottom half interrupt handler</vt:lpstr>
      <vt:lpstr>Packet copy to socket </vt:lpstr>
      <vt:lpstr>Overheads in the linux network stack</vt:lpstr>
      <vt:lpstr>Alternatives</vt:lpstr>
      <vt:lpstr>Network Device </vt:lpstr>
      <vt:lpstr>Register/Unregister callbacks</vt:lpstr>
      <vt:lpstr>Network Device Operations</vt:lpstr>
      <vt:lpstr>Socket Buffer  </vt:lpstr>
      <vt:lpstr>Socket Buffer Structure</vt:lpstr>
      <vt:lpstr>Socket Initialization</vt:lpstr>
      <vt:lpstr>SKB Operations </vt:lpstr>
      <vt:lpstr>Flow control functions </vt:lpstr>
      <vt:lpstr>Transmission </vt:lpstr>
      <vt:lpstr>Reception </vt:lpstr>
      <vt:lpstr>Reference links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Abinayaviji Pandiyan</dc:creator>
  <cp:lastModifiedBy>Sudar Manikandan S</cp:lastModifiedBy>
  <cp:revision>16</cp:revision>
  <dcterms:created xsi:type="dcterms:W3CDTF">2025-01-31T17:30:19Z</dcterms:created>
  <dcterms:modified xsi:type="dcterms:W3CDTF">2026-02-13T13:20:45Z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0x0101009BC931246BAB1346A19549D6C7D34CA3</vt:lpwstr>
  </property>
</Properties>
</file>