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7" r:id="rId2"/>
    <p:sldId id="5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5" r:id="rId29"/>
    <p:sldId id="283" r:id="rId30"/>
    <p:sldId id="284" r:id="rId31"/>
    <p:sldId id="599" r:id="rId32"/>
    <p:sldId id="600" r:id="rId33"/>
    <p:sldId id="286" r:id="rId34"/>
    <p:sldId id="598" r:id="rId35"/>
    <p:sldId id="601" r:id="rId36"/>
    <p:sldId id="602" r:id="rId37"/>
    <p:sldId id="603" r:id="rId38"/>
    <p:sldId id="604" r:id="rId39"/>
    <p:sldId id="605" r:id="rId40"/>
    <p:sldId id="607" r:id="rId41"/>
    <p:sldId id="60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e7c9d67-afab-4694-94e1-af28129ed65f::" providerId="AD" clId="Web-{B8182CC3-65AA-8D66-92C3-9284FB637FAD}"/>
    <pc:docChg chg="modSld">
      <pc:chgData name="Guest User" userId="S::urn:spo:tenantanon#3e7c9d67-afab-4694-94e1-af28129ed65f::" providerId="AD" clId="Web-{B8182CC3-65AA-8D66-92C3-9284FB637FAD}" dt="2025-10-27T11:10:41.159" v="1" actId="1076"/>
      <pc:docMkLst>
        <pc:docMk/>
      </pc:docMkLst>
      <pc:sldChg chg="modSp">
        <pc:chgData name="Guest User" userId="S::urn:spo:tenantanon#3e7c9d67-afab-4694-94e1-af28129ed65f::" providerId="AD" clId="Web-{B8182CC3-65AA-8D66-92C3-9284FB637FAD}" dt="2025-10-27T11:10:41.159" v="1" actId="1076"/>
        <pc:sldMkLst>
          <pc:docMk/>
          <pc:sldMk cId="2488521174" sldId="261"/>
        </pc:sldMkLst>
        <pc:spChg chg="mod">
          <ac:chgData name="Guest User" userId="S::urn:spo:tenantanon#3e7c9d67-afab-4694-94e1-af28129ed65f::" providerId="AD" clId="Web-{B8182CC3-65AA-8D66-92C3-9284FB637FAD}" dt="2025-10-27T11:10:41.159" v="1" actId="1076"/>
          <ac:spMkLst>
            <pc:docMk/>
            <pc:sldMk cId="2488521174" sldId="261"/>
            <ac:spMk id="6" creationId="{050C4A51-1175-6A12-34CE-FD10B9A07E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90801"/>
            <a:ext cx="10363200" cy="1470025"/>
          </a:xfrm>
          <a:effectLst/>
        </p:spPr>
        <p:txBody>
          <a:bodyPr/>
          <a:lstStyle>
            <a:lvl1pPr>
              <a:defRPr b="1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43400"/>
            <a:ext cx="8534400" cy="12192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709E-F0CC-4EA0-89B7-297B0F6BC7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215560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76200"/>
            <a:ext cx="10372436" cy="914400"/>
          </a:xfrm>
        </p:spPr>
        <p:txBody>
          <a:bodyPr/>
          <a:lstStyle>
            <a:lvl1pPr algn="l">
              <a:defRPr>
                <a:solidFill>
                  <a:srgbClr val="FFAA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FC000"/>
              </a:buClr>
              <a:buFont typeface="Wingdings" pitchFamily="2" charset="2"/>
              <a:buChar char="§"/>
              <a:defRPr>
                <a:solidFill>
                  <a:srgbClr val="C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D014E8B-1505-49B7-8DC8-786E184F6FB5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640938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6200"/>
            <a:ext cx="10972800" cy="914400"/>
          </a:xfrm>
        </p:spPr>
        <p:txBody>
          <a:bodyPr/>
          <a:lstStyle>
            <a:lvl1pPr algn="l">
              <a:defRPr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 sz="2600"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FC000"/>
              </a:buClr>
              <a:buFont typeface="Wingdings" pitchFamily="2" charset="2"/>
              <a:buChar char="§"/>
              <a:defRPr sz="2000">
                <a:solidFill>
                  <a:srgbClr val="C00000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 sz="2600"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626D2-D4EB-44F2-A808-35392673F9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324903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6200"/>
            <a:ext cx="10972800" cy="914400"/>
          </a:xfrm>
        </p:spPr>
        <p:txBody>
          <a:bodyPr/>
          <a:lstStyle>
            <a:lvl1pPr algn="l">
              <a:defRPr>
                <a:solidFill>
                  <a:srgbClr val="FFAA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199EF-9877-4535-929D-21842A8F69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557038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3C6-AF50-4D6F-AC2D-90DE4B47CA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9603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DD1C-D53E-4A7E-B0D8-50592BD5DC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050530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599C-F845-4C4D-A4E0-531ECD2CB5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758563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34EE-52EE-48EF-A17E-1BADEB8C26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710377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20DE-5315-45BF-811D-8D4D59331D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504431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B9D03-EA5B-47B2-89DD-18E1E9EB27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505834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605A-280B-49A7-ABE5-8D3870637F4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669204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DBC7-021D-4BB2-AFFE-FA7D81EDF3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54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r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riorit.com/dev-blog/195-simple-driver-for-linux-os" TargetMode="External"/><Relationship Id="rId2" Type="http://schemas.openxmlformats.org/officeDocument/2006/relationships/hyperlink" Target="https://sysprog21.github.io/lkmp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mbetronicx.com/tutorials/linux/device-drivers/linux-device-driver-part-1-introduction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8909" y="2411068"/>
            <a:ext cx="8174181" cy="1795402"/>
          </a:xfrm>
        </p:spPr>
        <p:txBody>
          <a:bodyPr>
            <a:normAutofit/>
          </a:bodyPr>
          <a:lstStyle/>
          <a:p>
            <a:r>
              <a:rPr lang="en-US" dirty="0"/>
              <a:t>Linux Driver Fundamentals</a:t>
            </a:r>
          </a:p>
        </p:txBody>
      </p:sp>
      <p:pic>
        <p:nvPicPr>
          <p:cNvPr id="1026" name="Picture 2" descr="C:\CAREER\Consulting Business\CUSTOMERS\EmbedUR\Logos\Logo Master\Web\EmbedUR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35841"/>
            <a:ext cx="3657600" cy="195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E7EDA5-7BA2-4425-AF79-C0D269F81FB1}"/>
              </a:ext>
            </a:extLst>
          </p:cNvPr>
          <p:cNvSpPr txBox="1">
            <a:spLocks/>
          </p:cNvSpPr>
          <p:nvPr/>
        </p:nvSpPr>
        <p:spPr>
          <a:xfrm>
            <a:off x="2209800" y="5052134"/>
            <a:ext cx="7772400" cy="1470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IMAGINE IT.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DONE.</a:t>
            </a: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6335092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7517-FF9B-A8AA-B319-5DC5DA6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Kernel :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5602-3EEA-7EB5-78E8-27AC4BF9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Linux Kernel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Linux Kernel Sub-components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Linux Library Files and Directory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Device driver classification and fundamentals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4C76-874D-49EE-9C99-64564FF3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8A5140-11EA-439E-83FB-BAB2F91F61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66776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37A8-C6B9-DA03-8D7F-FE376287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B555-6271-F5FC-138A-BDA39B34A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Kernel provides a platform for programs and various services to run on top of it. </a:t>
            </a:r>
          </a:p>
          <a:p>
            <a:r>
              <a:rPr lang="en-US" dirty="0"/>
              <a:t>It acts as a bridge between software applications and the underlying hardware of a computer system.</a:t>
            </a:r>
          </a:p>
          <a:p>
            <a:r>
              <a:rPr lang="en-US" dirty="0"/>
              <a:t>It is responsible for managing system resources, handling hardware communication and ensuring smooth execution of processes. </a:t>
            </a:r>
          </a:p>
          <a:p>
            <a:r>
              <a:rPr lang="en-US" dirty="0"/>
              <a:t>The Linux kernel follows a monolithic architecture, meaning that it runs as a single large process in a privileged mode. </a:t>
            </a:r>
          </a:p>
          <a:p>
            <a:r>
              <a:rPr lang="en-US" dirty="0"/>
              <a:t>Supports loadable kernel modules (LKMs), allowing dynamic addition or removal of features.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131378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9BA8-FB6E-B48A-86EC-AB0CEA2F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0D873-9CE4-5C4A-4044-1AACCD471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kernel virtualizes the computer’s common hardware resources to provide each process with its own virtual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9242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51A8-8494-0453-8A18-A6DC535EB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C44B43-9DE9-B745-B483-4620D65D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545B876-0C6D-1C35-9717-2772F9D81A0B}"/>
              </a:ext>
            </a:extLst>
          </p:cNvPr>
          <p:cNvSpPr/>
          <p:nvPr/>
        </p:nvSpPr>
        <p:spPr>
          <a:xfrm>
            <a:off x="1238491" y="1238491"/>
            <a:ext cx="1585732" cy="121534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6D29C33-E603-66BF-E0E4-15B8810F0CC4}"/>
              </a:ext>
            </a:extLst>
          </p:cNvPr>
          <p:cNvSpPr/>
          <p:nvPr/>
        </p:nvSpPr>
        <p:spPr>
          <a:xfrm>
            <a:off x="3541853" y="1412111"/>
            <a:ext cx="1481560" cy="740780"/>
          </a:xfrm>
          <a:prstGeom prst="round2Diag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1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8A3DB1C-7BD6-E2CD-222E-C8BF61387E15}"/>
              </a:ext>
            </a:extLst>
          </p:cNvPr>
          <p:cNvSpPr/>
          <p:nvPr/>
        </p:nvSpPr>
        <p:spPr>
          <a:xfrm>
            <a:off x="6103716" y="1412111"/>
            <a:ext cx="1481560" cy="740780"/>
          </a:xfrm>
          <a:prstGeom prst="round2Diag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2 </a:t>
            </a: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3F06784-B908-CA15-614C-D621E67BA85D}"/>
              </a:ext>
            </a:extLst>
          </p:cNvPr>
          <p:cNvSpPr/>
          <p:nvPr/>
        </p:nvSpPr>
        <p:spPr>
          <a:xfrm>
            <a:off x="8879711" y="1412111"/>
            <a:ext cx="1481560" cy="740780"/>
          </a:xfrm>
          <a:prstGeom prst="round2Diag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92A0F0-ED87-CC60-BBBF-356A1CEDE01D}"/>
              </a:ext>
            </a:extLst>
          </p:cNvPr>
          <p:cNvSpPr/>
          <p:nvPr/>
        </p:nvSpPr>
        <p:spPr>
          <a:xfrm>
            <a:off x="3738623" y="4757195"/>
            <a:ext cx="6622648" cy="925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Hardware Resources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51A4A5-337E-BE89-B46C-B4BB9594C964}"/>
              </a:ext>
            </a:extLst>
          </p:cNvPr>
          <p:cNvCxnSpPr/>
          <p:nvPr/>
        </p:nvCxnSpPr>
        <p:spPr>
          <a:xfrm>
            <a:off x="4259484" y="2152891"/>
            <a:ext cx="0" cy="260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B01217-EC31-D627-CA33-45E80F4D5E98}"/>
              </a:ext>
            </a:extLst>
          </p:cNvPr>
          <p:cNvCxnSpPr/>
          <p:nvPr/>
        </p:nvCxnSpPr>
        <p:spPr>
          <a:xfrm>
            <a:off x="6830993" y="2152891"/>
            <a:ext cx="0" cy="260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B436AF-22DD-4D57-B919-4703BD4BDF9A}"/>
              </a:ext>
            </a:extLst>
          </p:cNvPr>
          <p:cNvCxnSpPr/>
          <p:nvPr/>
        </p:nvCxnSpPr>
        <p:spPr>
          <a:xfrm>
            <a:off x="9574193" y="2152891"/>
            <a:ext cx="0" cy="2604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90A219-AACA-F74E-DCB8-C8210C50883A}"/>
              </a:ext>
            </a:extLst>
          </p:cNvPr>
          <p:cNvSpPr/>
          <p:nvPr/>
        </p:nvSpPr>
        <p:spPr>
          <a:xfrm>
            <a:off x="3970116" y="3703899"/>
            <a:ext cx="6076709" cy="33566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Process/Programs cannot directly interact with H/W</a:t>
            </a:r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3105955-B077-6306-66D8-D5E85BCA9705}"/>
              </a:ext>
            </a:extLst>
          </p:cNvPr>
          <p:cNvSpPr/>
          <p:nvPr/>
        </p:nvSpPr>
        <p:spPr>
          <a:xfrm>
            <a:off x="6492433" y="4083903"/>
            <a:ext cx="613457" cy="428264"/>
          </a:xfrm>
          <a:prstGeom prst="mathMultiply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49327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5629-7C56-DECD-FE1B-D694AE20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Linux: Kernel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5CE6C-7BC1-014A-A349-5E5843596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200C922-C3CC-E9A1-77CC-41F1DAB906EB}"/>
              </a:ext>
            </a:extLst>
          </p:cNvPr>
          <p:cNvSpPr/>
          <p:nvPr/>
        </p:nvSpPr>
        <p:spPr>
          <a:xfrm>
            <a:off x="1238491" y="1180618"/>
            <a:ext cx="1909823" cy="972273"/>
          </a:xfrm>
          <a:prstGeom prst="chevr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34C3D2-DF3E-7ED7-0475-3A2A122EE525}"/>
              </a:ext>
            </a:extLst>
          </p:cNvPr>
          <p:cNvSpPr/>
          <p:nvPr/>
        </p:nvSpPr>
        <p:spPr>
          <a:xfrm>
            <a:off x="3958542" y="1316881"/>
            <a:ext cx="1701478" cy="6997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E6AC8A-FF0C-D25A-8D43-1ACDBAF51C1F}"/>
              </a:ext>
            </a:extLst>
          </p:cNvPr>
          <p:cNvSpPr/>
          <p:nvPr/>
        </p:nvSpPr>
        <p:spPr>
          <a:xfrm>
            <a:off x="6657373" y="1316881"/>
            <a:ext cx="1701478" cy="6997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3C1DF1-90BE-DA3C-90F3-4FFB58B8D0D6}"/>
              </a:ext>
            </a:extLst>
          </p:cNvPr>
          <p:cNvSpPr/>
          <p:nvPr/>
        </p:nvSpPr>
        <p:spPr>
          <a:xfrm>
            <a:off x="9356204" y="1316881"/>
            <a:ext cx="1701478" cy="6997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 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57C05D-4F4E-134B-1438-2A87D18EB1C5}"/>
              </a:ext>
            </a:extLst>
          </p:cNvPr>
          <p:cNvSpPr/>
          <p:nvPr/>
        </p:nvSpPr>
        <p:spPr>
          <a:xfrm>
            <a:off x="4271058" y="3620917"/>
            <a:ext cx="6342927" cy="69974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DC5579-7D77-0B89-8AA5-2B5A3A752950}"/>
              </a:ext>
            </a:extLst>
          </p:cNvPr>
          <p:cNvSpPr/>
          <p:nvPr/>
        </p:nvSpPr>
        <p:spPr>
          <a:xfrm>
            <a:off x="4336648" y="5443255"/>
            <a:ext cx="6342927" cy="69974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Hardware Resources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3F0B52-FD3D-C5F6-6525-AE32F9FFF43B}"/>
              </a:ext>
            </a:extLst>
          </p:cNvPr>
          <p:cNvCxnSpPr>
            <a:stCxn id="6" idx="2"/>
          </p:cNvCxnSpPr>
          <p:nvPr/>
        </p:nvCxnSpPr>
        <p:spPr>
          <a:xfrm>
            <a:off x="4809281" y="2016627"/>
            <a:ext cx="0" cy="160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1A302A-E8D4-9D3A-7D45-CEB098196BDF}"/>
              </a:ext>
            </a:extLst>
          </p:cNvPr>
          <p:cNvCxnSpPr/>
          <p:nvPr/>
        </p:nvCxnSpPr>
        <p:spPr>
          <a:xfrm>
            <a:off x="7461812" y="2016627"/>
            <a:ext cx="0" cy="160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01FF5F-9BA5-6BEE-3DE4-6983C593E828}"/>
              </a:ext>
            </a:extLst>
          </p:cNvPr>
          <p:cNvCxnSpPr/>
          <p:nvPr/>
        </p:nvCxnSpPr>
        <p:spPr>
          <a:xfrm>
            <a:off x="10179935" y="2016627"/>
            <a:ext cx="0" cy="160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FE3C3F-3A9E-F78C-EBD1-60975DAB047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508111" y="4320663"/>
            <a:ext cx="1" cy="1122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92178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6486-6F97-8D4E-045E-A72219ED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/>
              <a:t>Linux Kernel Sub-Components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BFD7-48D0-080E-2911-CA769BA89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1" y="2332037"/>
            <a:ext cx="109728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6657F9-2006-8E8E-583D-957BB7633631}"/>
              </a:ext>
            </a:extLst>
          </p:cNvPr>
          <p:cNvSpPr/>
          <p:nvPr/>
        </p:nvSpPr>
        <p:spPr>
          <a:xfrm>
            <a:off x="2731626" y="1210016"/>
            <a:ext cx="5833640" cy="8102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Scheduler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7D4C3-DC4E-ADA6-84A9-9A2E826C8C78}"/>
              </a:ext>
            </a:extLst>
          </p:cNvPr>
          <p:cNvSpPr/>
          <p:nvPr/>
        </p:nvSpPr>
        <p:spPr>
          <a:xfrm>
            <a:off x="2731626" y="2275012"/>
            <a:ext cx="5833640" cy="8102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 Management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C4A51-1175-6A12-34CE-FD10B9A07E7E}"/>
              </a:ext>
            </a:extLst>
          </p:cNvPr>
          <p:cNvSpPr/>
          <p:nvPr/>
        </p:nvSpPr>
        <p:spPr>
          <a:xfrm>
            <a:off x="2731626" y="3397033"/>
            <a:ext cx="5833640" cy="8102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Virtual File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B04B2-E340-8AA3-C07F-BFED0E0FB7E8}"/>
              </a:ext>
            </a:extLst>
          </p:cNvPr>
          <p:cNvSpPr/>
          <p:nvPr/>
        </p:nvSpPr>
        <p:spPr>
          <a:xfrm>
            <a:off x="2731626" y="4635475"/>
            <a:ext cx="5833640" cy="8102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 Sub-System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256A04-8A39-AD39-3AE2-AF2E382251A4}"/>
              </a:ext>
            </a:extLst>
          </p:cNvPr>
          <p:cNvSpPr/>
          <p:nvPr/>
        </p:nvSpPr>
        <p:spPr>
          <a:xfrm>
            <a:off x="2731626" y="5868247"/>
            <a:ext cx="5833640" cy="81022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 Process Communication Unit</a:t>
            </a:r>
          </a:p>
        </p:txBody>
      </p:sp>
    </p:spTree>
    <p:extLst>
      <p:ext uri="{BB962C8B-B14F-4D97-AF65-F5344CB8AC3E}">
        <p14:creationId xmlns:p14="http://schemas.microsoft.com/office/powerpoint/2010/main" val="2488521174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74BBB-1E4C-1BF8-2E44-E2F6CBD90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Linux Kernel Sub-Components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9EA90-D0BA-F7FF-D78D-A370D2930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36667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A494-CF51-FB90-BDC8-EA1C0EB9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7E984-9F6A-6A2D-40DE-DFEB1D549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Process Scheduler</a:t>
            </a:r>
          </a:p>
          <a:p>
            <a:r>
              <a:rPr lang="en-US" dirty="0"/>
              <a:t>It is responsible for managing how processes are allocated to the CPU</a:t>
            </a:r>
          </a:p>
          <a:p>
            <a:r>
              <a:rPr lang="en-US" dirty="0"/>
              <a:t>Primary goal is to maximize CPU utilization and ensure smooth multitasking. </a:t>
            </a:r>
          </a:p>
          <a:p>
            <a:r>
              <a:rPr lang="en-US" dirty="0"/>
              <a:t>Key Elements :</a:t>
            </a:r>
          </a:p>
          <a:p>
            <a:pPr lvl="1"/>
            <a:r>
              <a:rPr lang="en-US" dirty="0"/>
              <a:t>Scheduling Policy</a:t>
            </a:r>
          </a:p>
          <a:p>
            <a:pPr lvl="1"/>
            <a:r>
              <a:rPr lang="en-US" dirty="0"/>
              <a:t>Process States</a:t>
            </a:r>
          </a:p>
          <a:p>
            <a:pPr lvl="1"/>
            <a:r>
              <a:rPr lang="en-US" dirty="0"/>
              <a:t>Pre-emptive vs Non-Preemptive scheduling</a:t>
            </a:r>
          </a:p>
          <a:p>
            <a:pPr lvl="1"/>
            <a:r>
              <a:rPr lang="en-US" dirty="0"/>
              <a:t>Context Switching</a:t>
            </a:r>
          </a:p>
          <a:p>
            <a:pPr lvl="1"/>
            <a:r>
              <a:rPr lang="en-US" dirty="0"/>
              <a:t>Load Balancing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621674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6C4D-21ED-411A-6DAD-500FF734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4984-F337-B3CD-7436-AC7F4728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File System (VFS)</a:t>
            </a:r>
          </a:p>
          <a:p>
            <a:pPr lvl="1"/>
            <a:r>
              <a:rPr lang="en-US" dirty="0"/>
              <a:t>Abstraction layer that allows the </a:t>
            </a:r>
            <a:r>
              <a:rPr lang="en-US" dirty="0" err="1"/>
              <a:t>linux</a:t>
            </a:r>
            <a:r>
              <a:rPr lang="en-US" dirty="0"/>
              <a:t> kernel to interface with different file systems in same manner.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03396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C1E8-5D75-AF8B-6A95-A90FDF20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57088-429A-9AA9-9586-083E61FB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Network Sub System</a:t>
            </a:r>
          </a:p>
          <a:p>
            <a:r>
              <a:rPr lang="en-US" dirty="0"/>
              <a:t>It manages communication between devices over a network</a:t>
            </a:r>
          </a:p>
          <a:p>
            <a:r>
              <a:rPr lang="en-US" dirty="0"/>
              <a:t>It is responsible for processing, routing and managing all network packets as they pass through the system</a:t>
            </a:r>
          </a:p>
          <a:p>
            <a:r>
              <a:rPr lang="en-US" dirty="0"/>
              <a:t>Key Elements:</a:t>
            </a:r>
          </a:p>
          <a:p>
            <a:pPr lvl="1"/>
            <a:r>
              <a:rPr lang="en-US" dirty="0"/>
              <a:t>Socket API : Interface between the user space application and kernel</a:t>
            </a:r>
          </a:p>
          <a:p>
            <a:pPr lvl="1"/>
            <a:r>
              <a:rPr lang="en-US" dirty="0"/>
              <a:t>Protocol : Link layer (Ethernet, Wi-Fi), Network Layer (IP, IPv6), Transport Layer (TCP, UDP), Application Layer (HTTP, FTP)</a:t>
            </a:r>
          </a:p>
          <a:p>
            <a:pPr lvl="1"/>
            <a:r>
              <a:rPr lang="en-US" dirty="0"/>
              <a:t>Network Stack, Network Devices</a:t>
            </a:r>
          </a:p>
          <a:p>
            <a:pPr lvl="1"/>
            <a:r>
              <a:rPr lang="en-US" dirty="0"/>
              <a:t>Packet Processing, Routing, Traffic Control 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19065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C259-8A1B-D2F3-FC5B-C50676DC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95EBC-695D-0521-2666-0DDC2F1F8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 Process Communication</a:t>
            </a:r>
          </a:p>
          <a:p>
            <a:r>
              <a:rPr lang="en-US" dirty="0"/>
              <a:t>It allows processes to communicate and synchronize their actions</a:t>
            </a:r>
          </a:p>
          <a:p>
            <a:r>
              <a:rPr lang="en-US" dirty="0"/>
              <a:t>Essential in multi processes or shared access to system resource is needed</a:t>
            </a:r>
          </a:p>
          <a:p>
            <a:r>
              <a:rPr lang="en-US" dirty="0"/>
              <a:t>Key Elements :</a:t>
            </a:r>
          </a:p>
          <a:p>
            <a:pPr lvl="1"/>
            <a:r>
              <a:rPr lang="en-US" dirty="0"/>
              <a:t>Message Queues – Allows processes to exchange messages</a:t>
            </a:r>
          </a:p>
          <a:p>
            <a:pPr lvl="1"/>
            <a:r>
              <a:rPr lang="en-US" dirty="0"/>
              <a:t>Shared memory – Allows multiple processes to access the same memory region</a:t>
            </a:r>
          </a:p>
          <a:p>
            <a:pPr lvl="1"/>
            <a:r>
              <a:rPr lang="en-US" dirty="0"/>
              <a:t>Semaphores (Synchronization primitives), Signals (Asynchronization Notifications) etc..</a:t>
            </a:r>
          </a:p>
        </p:txBody>
      </p:sp>
    </p:spTree>
    <p:extLst>
      <p:ext uri="{BB962C8B-B14F-4D97-AF65-F5344CB8AC3E}">
        <p14:creationId xmlns:p14="http://schemas.microsoft.com/office/powerpoint/2010/main" val="52994762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5D3E-0502-7162-0000-5C67F6084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74625"/>
            <a:ext cx="10363200" cy="1470025"/>
          </a:xfrm>
        </p:spPr>
        <p:txBody>
          <a:bodyPr/>
          <a:lstStyle/>
          <a:p>
            <a:pPr algn="l"/>
            <a:r>
              <a:rPr lang="en-US" dirty="0"/>
              <a:t>Linux Library files &amp; Directory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4FDDD-E9C4-02DB-47BC-98EAE550E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D7ACC-A8DD-DFB7-AFD5-B988904F8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05" y="1161933"/>
            <a:ext cx="7323789" cy="543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45473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CD17-9265-C83A-62A0-39273184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Library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C07E-90D3-32BA-7C5B-6626EF47C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“In the Linux, Mostly Everything is a File”</a:t>
            </a:r>
          </a:p>
          <a:p>
            <a:r>
              <a:rPr lang="en-US" dirty="0"/>
              <a:t>In Linux, most system resources and devices are represented as files</a:t>
            </a:r>
          </a:p>
          <a:p>
            <a:r>
              <a:rPr lang="en-US" dirty="0"/>
              <a:t>This abstraction simplifies interaction with various components of the system</a:t>
            </a:r>
          </a:p>
          <a:p>
            <a:r>
              <a:rPr lang="en-US" dirty="0"/>
              <a:t>System libraries are essential components that provide commonly used functions and services to programs</a:t>
            </a:r>
          </a:p>
          <a:p>
            <a:r>
              <a:rPr lang="en-US" dirty="0"/>
              <a:t>System libraries are shared by multiple applications, making them highly efficient in terms of memory usage and execution speed</a:t>
            </a:r>
          </a:p>
        </p:txBody>
      </p:sp>
    </p:spTree>
    <p:extLst>
      <p:ext uri="{BB962C8B-B14F-4D97-AF65-F5344CB8AC3E}">
        <p14:creationId xmlns:p14="http://schemas.microsoft.com/office/powerpoint/2010/main" val="102645821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83D9-0570-5436-B51A-43CCD2E8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Linux: Types of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44E7B-1AD4-4B3D-7DA2-C50D6A1E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Regular Files : e.g. – text files, binary files, scripts</a:t>
            </a:r>
          </a:p>
          <a:p>
            <a:r>
              <a:rPr lang="en-US" dirty="0"/>
              <a:t>Directory : Treated as files which contains information about other files</a:t>
            </a:r>
          </a:p>
          <a:p>
            <a:r>
              <a:rPr lang="en-US" dirty="0"/>
              <a:t>Devices : Devices such as hard drives, keyboards and printers are represented as files in /dev directory</a:t>
            </a:r>
          </a:p>
          <a:p>
            <a:r>
              <a:rPr lang="en-US" dirty="0"/>
              <a:t>Symbolic links : A file that points to another file or directory</a:t>
            </a:r>
          </a:p>
          <a:p>
            <a:r>
              <a:rPr lang="en-US" dirty="0"/>
              <a:t>Network Interfaces : such as eth0, wlan0 are treated as files in Linux</a:t>
            </a:r>
          </a:p>
          <a:p>
            <a:r>
              <a:rPr lang="en-US" dirty="0"/>
              <a:t>Exception – File concept doesn’t strictly apply to processes, threads or memory directly</a:t>
            </a:r>
          </a:p>
        </p:txBody>
      </p:sp>
    </p:spTree>
    <p:extLst>
      <p:ext uri="{BB962C8B-B14F-4D97-AF65-F5344CB8AC3E}">
        <p14:creationId xmlns:p14="http://schemas.microsoft.com/office/powerpoint/2010/main" val="3051433187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63AA73-637C-4242-A71A-9A7C83E1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794FA-B79B-1017-4476-D4E98D5E3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Linux Driver?</a:t>
            </a:r>
          </a:p>
          <a:p>
            <a:r>
              <a:rPr lang="en-US" dirty="0"/>
              <a:t>Linux Driver Ecosystem</a:t>
            </a:r>
          </a:p>
          <a:p>
            <a:r>
              <a:rPr lang="en-US" dirty="0"/>
              <a:t>Linux Kernel Source Organization</a:t>
            </a:r>
          </a:p>
          <a:p>
            <a:r>
              <a:rPr lang="en-US" dirty="0"/>
              <a:t>Linux Kernel Module</a:t>
            </a:r>
          </a:p>
          <a:p>
            <a:r>
              <a:rPr lang="en-US" dirty="0"/>
              <a:t>Writing a Linux Driver</a:t>
            </a:r>
          </a:p>
        </p:txBody>
      </p:sp>
    </p:spTree>
    <p:extLst>
      <p:ext uri="{BB962C8B-B14F-4D97-AF65-F5344CB8AC3E}">
        <p14:creationId xmlns:p14="http://schemas.microsoft.com/office/powerpoint/2010/main" val="1334494473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A1D50-18FE-79BE-EF0B-DD4F4747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Driver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55CE-CAEE-96A2-0C22-2B5F3C96E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Piece of software which drives, operates, monitors, controls</a:t>
            </a:r>
          </a:p>
          <a:p>
            <a:pPr lvl="1"/>
            <a:r>
              <a:rPr lang="en-US" dirty="0"/>
              <a:t>Another piece of software</a:t>
            </a:r>
          </a:p>
          <a:p>
            <a:pPr lvl="1"/>
            <a:r>
              <a:rPr lang="en-US" dirty="0"/>
              <a:t>Device</a:t>
            </a:r>
          </a:p>
          <a:p>
            <a:r>
              <a:rPr lang="en-US" dirty="0"/>
              <a:t>Need for the driver</a:t>
            </a:r>
          </a:p>
          <a:p>
            <a:pPr lvl="1"/>
            <a:r>
              <a:rPr lang="en-US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431435341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5FE8-CE4F-3AA1-8523-33A479A2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Driver Ecosystem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56C90D-3A17-14BF-77B7-518944194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8381" y="1600200"/>
            <a:ext cx="7795238" cy="4525963"/>
          </a:xfrm>
        </p:spPr>
      </p:pic>
    </p:spTree>
    <p:extLst>
      <p:ext uri="{BB962C8B-B14F-4D97-AF65-F5344CB8AC3E}">
        <p14:creationId xmlns:p14="http://schemas.microsoft.com/office/powerpoint/2010/main" val="1941997366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4A15-59A4-840C-6819-D02B588A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Driver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3995-B24F-F5E3-D548-FB470D737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Device Drivers – packets oriented</a:t>
            </a:r>
          </a:p>
          <a:p>
            <a:r>
              <a:rPr lang="en-US" dirty="0"/>
              <a:t>Block Device Drivers – storage oriented</a:t>
            </a:r>
          </a:p>
          <a:p>
            <a:r>
              <a:rPr lang="en-US" dirty="0"/>
              <a:t>Character Drivers – bytes oriented</a:t>
            </a:r>
          </a:p>
          <a:p>
            <a:endParaRPr lang="en-US" dirty="0"/>
          </a:p>
          <a:p>
            <a:r>
              <a:rPr lang="en-US" dirty="0"/>
              <a:t>Process and memory units are core functionalities of kernel and not considered as drivers</a:t>
            </a:r>
          </a:p>
        </p:txBody>
      </p:sp>
    </p:spTree>
    <p:extLst>
      <p:ext uri="{BB962C8B-B14F-4D97-AF65-F5344CB8AC3E}">
        <p14:creationId xmlns:p14="http://schemas.microsoft.com/office/powerpoint/2010/main" val="1661009297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8BB2-06B2-2200-4E05-6105BDE8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Kernel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35CDC-A731-CE9F-AE4B-575D81F72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 plug and play driver </a:t>
            </a:r>
          </a:p>
          <a:p>
            <a:r>
              <a:rPr lang="en-US" dirty="0"/>
              <a:t>Can be loaded &amp; unloaded dynamically</a:t>
            </a:r>
          </a:p>
          <a:p>
            <a:r>
              <a:rPr lang="en-US" dirty="0"/>
              <a:t>Need for LKM</a:t>
            </a:r>
          </a:p>
          <a:p>
            <a:pPr lvl="1"/>
            <a:r>
              <a:rPr lang="en-US" dirty="0"/>
              <a:t>Expedites the development cycle</a:t>
            </a:r>
          </a:p>
          <a:p>
            <a:pPr lvl="1"/>
            <a:r>
              <a:rPr lang="en-US" dirty="0"/>
              <a:t>Provides modularity</a:t>
            </a:r>
          </a:p>
          <a:p>
            <a:r>
              <a:rPr lang="en-US" dirty="0"/>
              <a:t>Standard module path</a:t>
            </a:r>
          </a:p>
          <a:p>
            <a:pPr lvl="1"/>
            <a:r>
              <a:rPr lang="en-US" dirty="0"/>
              <a:t>Lib/modules/$(kernel-version)</a:t>
            </a:r>
          </a:p>
        </p:txBody>
      </p:sp>
    </p:spTree>
    <p:extLst>
      <p:ext uri="{BB962C8B-B14F-4D97-AF65-F5344CB8AC3E}">
        <p14:creationId xmlns:p14="http://schemas.microsoft.com/office/powerpoint/2010/main" val="970829775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8EC3-BFA6-1639-8EA0-9243DAB8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related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7B0E-51E6-3C86-2080-9A7BFCA82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under /</a:t>
            </a:r>
            <a:r>
              <a:rPr lang="en-US" dirty="0" err="1"/>
              <a:t>sbin</a:t>
            </a:r>
            <a:r>
              <a:rPr lang="en-US" dirty="0"/>
              <a:t> and requires root privilege</a:t>
            </a:r>
          </a:p>
          <a:p>
            <a:r>
              <a:rPr lang="en-US" dirty="0" err="1"/>
              <a:t>Lsmod</a:t>
            </a:r>
            <a:r>
              <a:rPr lang="en-US" dirty="0"/>
              <a:t> – listing the modules</a:t>
            </a:r>
          </a:p>
          <a:p>
            <a:r>
              <a:rPr lang="en-US" dirty="0" err="1"/>
              <a:t>Insmod</a:t>
            </a:r>
            <a:r>
              <a:rPr lang="en-US" dirty="0"/>
              <a:t> – loading the module</a:t>
            </a:r>
          </a:p>
          <a:p>
            <a:r>
              <a:rPr lang="en-US" dirty="0" err="1"/>
              <a:t>Rmmod</a:t>
            </a:r>
            <a:r>
              <a:rPr lang="en-US" dirty="0"/>
              <a:t> – unloading the module</a:t>
            </a:r>
          </a:p>
          <a:p>
            <a:r>
              <a:rPr lang="en-US" dirty="0" err="1"/>
              <a:t>modprobe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40339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F949-18C4-C470-9774-2685ED0B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3DEE-8A61-C7AC-F208-AB5F1D155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  <a:p>
            <a:pPr lvl="1"/>
            <a:r>
              <a:rPr lang="en-US" dirty="0"/>
              <a:t>Kernel’s C</a:t>
            </a:r>
          </a:p>
          <a:p>
            <a:pPr lvl="1"/>
            <a:r>
              <a:rPr lang="en-US" dirty="0"/>
              <a:t>C without standard user space libs &amp; headers</a:t>
            </a:r>
          </a:p>
          <a:p>
            <a:r>
              <a:rPr lang="en-US" dirty="0"/>
              <a:t>Kernel Source code</a:t>
            </a:r>
          </a:p>
          <a:p>
            <a:pPr lvl="1"/>
            <a:r>
              <a:rPr lang="en-US" dirty="0"/>
              <a:t>For headers &amp; libs</a:t>
            </a:r>
          </a:p>
          <a:p>
            <a:pPr lvl="1"/>
            <a:r>
              <a:rPr lang="en-US" dirty="0"/>
              <a:t>Libraries for commonly used functions at lib path</a:t>
            </a:r>
          </a:p>
        </p:txBody>
      </p:sp>
    </p:spTree>
    <p:extLst>
      <p:ext uri="{BB962C8B-B14F-4D97-AF65-F5344CB8AC3E}">
        <p14:creationId xmlns:p14="http://schemas.microsoft.com/office/powerpoint/2010/main" val="2243455118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87C1-6DF6-4F7D-2740-0F0B24C2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272A-0D30-8286-3159-566FFB707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int __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driver_init</a:t>
            </a:r>
            <a:r>
              <a:rPr lang="en-US" dirty="0"/>
              <a:t> (void)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…</a:t>
            </a:r>
          </a:p>
          <a:p>
            <a:pPr marL="457200" lvl="1" indent="0">
              <a:buNone/>
            </a:pPr>
            <a:r>
              <a:rPr lang="en-US" dirty="0"/>
              <a:t>return 0;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/>
              <a:t>module_init</a:t>
            </a:r>
            <a:r>
              <a:rPr lang="en-US" dirty="0"/>
              <a:t>(</a:t>
            </a:r>
            <a:r>
              <a:rPr lang="en-US" dirty="0" err="1"/>
              <a:t>driver_init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42409234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659D-6607-2079-B5A1-D98CCFED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Deinitialization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0C345-BD0F-8BBC-520A-FFCD8FCD3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void __exit </a:t>
            </a:r>
            <a:r>
              <a:rPr lang="en-US" dirty="0" err="1"/>
              <a:t>driver_exit</a:t>
            </a:r>
            <a:r>
              <a:rPr lang="en-US" dirty="0"/>
              <a:t> (void)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…</a:t>
            </a:r>
          </a:p>
          <a:p>
            <a:pPr marL="457200" lvl="1" indent="0">
              <a:buNone/>
            </a:pPr>
            <a:r>
              <a:rPr lang="en-US" dirty="0"/>
              <a:t>return 0;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/>
              <a:t>module_exit</a:t>
            </a:r>
            <a:r>
              <a:rPr lang="en-US" dirty="0"/>
              <a:t> (</a:t>
            </a:r>
            <a:r>
              <a:rPr lang="en-US" dirty="0" err="1"/>
              <a:t>driver_exit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08654382"/>
      </p:ext>
    </p:ext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1488-F0C8-C285-B461-DCEA8926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C33E-89E0-1B25-3633-71D4E873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character driver ?</a:t>
            </a:r>
          </a:p>
          <a:p>
            <a:r>
              <a:rPr lang="en-US" dirty="0"/>
              <a:t>Major &amp; Minor Numbers</a:t>
            </a:r>
          </a:p>
          <a:p>
            <a:r>
              <a:rPr lang="en-US" dirty="0"/>
              <a:t>Registering the char drivers</a:t>
            </a:r>
          </a:p>
        </p:txBody>
      </p:sp>
    </p:spTree>
    <p:extLst>
      <p:ext uri="{BB962C8B-B14F-4D97-AF65-F5344CB8AC3E}">
        <p14:creationId xmlns:p14="http://schemas.microsoft.com/office/powerpoint/2010/main" val="532961318"/>
      </p:ext>
    </p:ext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A249-DCE6-D67D-BD96-9889913B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Driver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C848-42DC-4E56-683B-B4DB0D50B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driver which allows the byte-oriented transaction</a:t>
            </a:r>
          </a:p>
          <a:p>
            <a:r>
              <a:rPr lang="en-US" dirty="0"/>
              <a:t>Character device special files</a:t>
            </a:r>
          </a:p>
          <a:p>
            <a:pPr lvl="1"/>
            <a:r>
              <a:rPr lang="en-US" dirty="0"/>
              <a:t>ls –l /dev/* | grep ^c</a:t>
            </a:r>
          </a:p>
          <a:p>
            <a:pPr lvl="1"/>
            <a:r>
              <a:rPr lang="en-US" dirty="0"/>
              <a:t>Two attributes for a file – Name &amp; Number</a:t>
            </a:r>
          </a:p>
          <a:p>
            <a:pPr lvl="1"/>
            <a:r>
              <a:rPr lang="en-US" dirty="0"/>
              <a:t>Kernel deals with 32-bit number – Major (MSB-12bit)&amp; Minor (LSB-20bit)</a:t>
            </a:r>
          </a:p>
          <a:p>
            <a:pPr lvl="1"/>
            <a:r>
              <a:rPr lang="en-US" dirty="0"/>
              <a:t>Name – useful for application</a:t>
            </a:r>
          </a:p>
          <a:p>
            <a:pPr lvl="1"/>
            <a:r>
              <a:rPr lang="en-US" dirty="0"/>
              <a:t>Numbers – Used by kernel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E.g.: ttyS0 – Name, 	4,64 – Major (category) &amp; Minor (functionality)</a:t>
            </a:r>
          </a:p>
          <a:p>
            <a:pPr lvl="1"/>
            <a:r>
              <a:rPr lang="en-US" dirty="0"/>
              <a:t>Size will be 0, just a placeholder and not for storing data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951565"/>
      </p:ext>
    </p:ext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8835-4E5A-D786-2D50-E9EB5F54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File Number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CBF1-3B68-750F-4726-E84B9C41C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Represented by type </a:t>
            </a:r>
            <a:r>
              <a:rPr lang="en-US" dirty="0" err="1"/>
              <a:t>dev_t</a:t>
            </a:r>
            <a:r>
              <a:rPr lang="en-US" dirty="0"/>
              <a:t>, split into 2 parts</a:t>
            </a:r>
          </a:p>
          <a:p>
            <a:pPr lvl="1"/>
            <a:r>
              <a:rPr lang="en-US" dirty="0"/>
              <a:t>MSB 12 bits, to represent the category</a:t>
            </a:r>
          </a:p>
          <a:p>
            <a:pPr lvl="1"/>
            <a:r>
              <a:rPr lang="en-US" dirty="0"/>
              <a:t>LSB 20 bits, to represent the functionality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MACROS</a:t>
            </a:r>
          </a:p>
          <a:p>
            <a:pPr lvl="2"/>
            <a:r>
              <a:rPr lang="en-US" dirty="0"/>
              <a:t>MAJOR (dev)</a:t>
            </a:r>
          </a:p>
          <a:p>
            <a:pPr lvl="2"/>
            <a:r>
              <a:rPr lang="en-US" dirty="0"/>
              <a:t>MINOR (dev)</a:t>
            </a:r>
          </a:p>
          <a:p>
            <a:pPr lvl="2"/>
            <a:r>
              <a:rPr lang="en-US" dirty="0"/>
              <a:t>MKDEV (major, minor)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881173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4071-B7AD-8AC3-A7B3-2CFF65C39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Character Driver Flow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9A3E4-30E3-8612-8A11-6C8600E0B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40579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DC4D-154C-6CA6-2DCA-C67EBE5F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F28E5-950E-3560-568D-E7124D411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42C79B-6FB4-3239-0F25-7F67C24C8E09}"/>
              </a:ext>
            </a:extLst>
          </p:cNvPr>
          <p:cNvCxnSpPr/>
          <p:nvPr/>
        </p:nvCxnSpPr>
        <p:spPr>
          <a:xfrm>
            <a:off x="1181528" y="1839074"/>
            <a:ext cx="1002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6A640B-8645-49A9-9821-DA75A85C6B8C}"/>
              </a:ext>
            </a:extLst>
          </p:cNvPr>
          <p:cNvCxnSpPr/>
          <p:nvPr/>
        </p:nvCxnSpPr>
        <p:spPr>
          <a:xfrm>
            <a:off x="1181528" y="3902467"/>
            <a:ext cx="1002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5B4010-1A63-ADA8-9506-40C24C20E97A}"/>
              </a:ext>
            </a:extLst>
          </p:cNvPr>
          <p:cNvSpPr txBox="1"/>
          <p:nvPr/>
        </p:nvSpPr>
        <p:spPr>
          <a:xfrm>
            <a:off x="1027416" y="2722664"/>
            <a:ext cx="209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Kernel Space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CDA46-89C1-0DC4-E9EC-26179E5A1085}"/>
              </a:ext>
            </a:extLst>
          </p:cNvPr>
          <p:cNvSpPr txBox="1"/>
          <p:nvPr/>
        </p:nvSpPr>
        <p:spPr>
          <a:xfrm>
            <a:off x="1027416" y="4343607"/>
            <a:ext cx="209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Space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1A740-1E75-F931-DA57-6D5D21B9CB14}"/>
              </a:ext>
            </a:extLst>
          </p:cNvPr>
          <p:cNvSpPr txBox="1"/>
          <p:nvPr/>
        </p:nvSpPr>
        <p:spPr>
          <a:xfrm>
            <a:off x="1027416" y="770819"/>
            <a:ext cx="209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Space 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FF8324-DC8E-EB4B-6462-3E9C96F14EA3}"/>
              </a:ext>
            </a:extLst>
          </p:cNvPr>
          <p:cNvSpPr/>
          <p:nvPr/>
        </p:nvSpPr>
        <p:spPr>
          <a:xfrm>
            <a:off x="4921321" y="1201788"/>
            <a:ext cx="2167848" cy="55481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/dev/</a:t>
            </a:r>
            <a:r>
              <a:rPr lang="en-US" dirty="0" err="1">
                <a:solidFill>
                  <a:sysClr val="windowText" lastClr="000000"/>
                </a:solidFill>
              </a:rPr>
              <a:t>abc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FDC741-406D-E801-FC27-51A6944459BD}"/>
              </a:ext>
            </a:extLst>
          </p:cNvPr>
          <p:cNvSpPr/>
          <p:nvPr/>
        </p:nvSpPr>
        <p:spPr>
          <a:xfrm>
            <a:off x="4921321" y="2906234"/>
            <a:ext cx="2167848" cy="5548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Driver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1B4AB0-70E5-E375-B895-9DE1E16EEAD2}"/>
              </a:ext>
            </a:extLst>
          </p:cNvPr>
          <p:cNvSpPr/>
          <p:nvPr/>
        </p:nvSpPr>
        <p:spPr>
          <a:xfrm>
            <a:off x="4921321" y="4762308"/>
            <a:ext cx="2167848" cy="5548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HW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9B227B-BA0A-0E9F-0951-022ED7F2C585}"/>
              </a:ext>
            </a:extLst>
          </p:cNvPr>
          <p:cNvSpPr/>
          <p:nvPr/>
        </p:nvSpPr>
        <p:spPr>
          <a:xfrm>
            <a:off x="3328827" y="1921267"/>
            <a:ext cx="5876818" cy="5548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Virtual File System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28B01852-AEC1-385F-AF46-182D8C44EA17}"/>
              </a:ext>
            </a:extLst>
          </p:cNvPr>
          <p:cNvSpPr/>
          <p:nvPr/>
        </p:nvSpPr>
        <p:spPr>
          <a:xfrm>
            <a:off x="5815173" y="2476080"/>
            <a:ext cx="280827" cy="441419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1AFB07-37CA-F9F4-930F-14265C47AE03}"/>
              </a:ext>
            </a:extLst>
          </p:cNvPr>
          <p:cNvSpPr/>
          <p:nvPr/>
        </p:nvSpPr>
        <p:spPr>
          <a:xfrm>
            <a:off x="4921321" y="251098"/>
            <a:ext cx="2167848" cy="5548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Application Open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3A371D-B231-C563-20A3-F1F1ECF1622F}"/>
              </a:ext>
            </a:extLst>
          </p:cNvPr>
          <p:cNvCxnSpPr/>
          <p:nvPr/>
        </p:nvCxnSpPr>
        <p:spPr>
          <a:xfrm>
            <a:off x="6005245" y="818297"/>
            <a:ext cx="0" cy="347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1B7B0E-E9A9-9E72-1D86-C849155CF399}"/>
              </a:ext>
            </a:extLst>
          </p:cNvPr>
          <p:cNvCxnSpPr/>
          <p:nvPr/>
        </p:nvCxnSpPr>
        <p:spPr>
          <a:xfrm>
            <a:off x="6698751" y="2476080"/>
            <a:ext cx="0" cy="441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CD528-97D0-77C4-B5B7-4E8198CAFE9A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6005245" y="3461048"/>
            <a:ext cx="0" cy="1301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480325"/>
      </p:ext>
    </p:ext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61D1D-9BF9-620E-2E2F-7D6F00C9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Registering/Deregistering the 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2B39-B776-FAF7-8AA7-29B47228E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Registration</a:t>
            </a:r>
          </a:p>
          <a:p>
            <a:pPr lvl="1"/>
            <a:r>
              <a:rPr lang="en-US" dirty="0"/>
              <a:t>Static registration</a:t>
            </a:r>
          </a:p>
          <a:p>
            <a:pPr lvl="2"/>
            <a:r>
              <a:rPr lang="en-US" dirty="0" err="1"/>
              <a:t>register_char_dev</a:t>
            </a:r>
            <a:r>
              <a:rPr lang="en-US" dirty="0"/>
              <a:t> (</a:t>
            </a:r>
            <a:r>
              <a:rPr lang="en-US" dirty="0" err="1"/>
              <a:t>dev_t</a:t>
            </a:r>
            <a:r>
              <a:rPr lang="en-US" dirty="0"/>
              <a:t> dev, char *name, *fops)</a:t>
            </a:r>
          </a:p>
          <a:p>
            <a:pPr lvl="3"/>
            <a:r>
              <a:rPr lang="en-US" dirty="0" err="1"/>
              <a:t>register_chrdev</a:t>
            </a:r>
            <a:r>
              <a:rPr lang="en-US" dirty="0"/>
              <a:t>(222,"new_device",&amp;my_fops)</a:t>
            </a:r>
          </a:p>
          <a:p>
            <a:pPr lvl="3"/>
            <a:r>
              <a:rPr lang="en-US" dirty="0"/>
              <a:t>Disadvantage with hardcoding is – not portable</a:t>
            </a:r>
          </a:p>
          <a:p>
            <a:pPr lvl="1"/>
            <a:r>
              <a:rPr lang="en-US" dirty="0"/>
              <a:t>Dynamic registration</a:t>
            </a:r>
          </a:p>
          <a:p>
            <a:pPr lvl="2"/>
            <a:r>
              <a:rPr lang="en-US" dirty="0" err="1"/>
              <a:t>alloc_char_dev_region</a:t>
            </a:r>
            <a:r>
              <a:rPr lang="en-US" dirty="0"/>
              <a:t>(</a:t>
            </a:r>
            <a:r>
              <a:rPr lang="en-US" dirty="0" err="1"/>
              <a:t>dev_t</a:t>
            </a:r>
            <a:r>
              <a:rPr lang="en-US" dirty="0"/>
              <a:t> *dev, unsigned int first, unsigned int count, char *name)</a:t>
            </a:r>
          </a:p>
          <a:p>
            <a:pPr lvl="3"/>
            <a:r>
              <a:rPr lang="en-US" dirty="0" err="1"/>
              <a:t>alloc_char_dev_region</a:t>
            </a:r>
            <a:r>
              <a:rPr lang="en-US" dirty="0"/>
              <a:t> (&amp;dev, 0, 3, “</a:t>
            </a:r>
            <a:r>
              <a:rPr lang="en-US" dirty="0" err="1"/>
              <a:t>abc</a:t>
            </a:r>
            <a:r>
              <a:rPr lang="en-US" dirty="0"/>
              <a:t>”);</a:t>
            </a:r>
          </a:p>
          <a:p>
            <a:pPr lvl="3"/>
            <a:endParaRPr lang="en-US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595607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563C-33E8-CFF2-684E-0125F725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Registering/Deregistering the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417C-B919-F1EB-66C3-98A3E80B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Deregistration</a:t>
            </a:r>
          </a:p>
          <a:p>
            <a:pPr lvl="1"/>
            <a:r>
              <a:rPr lang="en-US" dirty="0" err="1"/>
              <a:t>unregister_chrdev</a:t>
            </a:r>
            <a:endParaRPr lang="en-US" dirty="0"/>
          </a:p>
          <a:p>
            <a:pPr lvl="2"/>
            <a:r>
              <a:rPr lang="en-US" dirty="0" err="1"/>
              <a:t>dev_t</a:t>
            </a:r>
            <a:r>
              <a:rPr lang="en-US" dirty="0"/>
              <a:t> first </a:t>
            </a:r>
            <a:r>
              <a:rPr lang="en-US" dirty="0">
                <a:sym typeface="Wingdings" panose="05000000000000000000" pitchFamily="2" charset="2"/>
              </a:rPr>
              <a:t> beginning of device number range to be freed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Returns void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Usually invoked in module’s cleanup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59AFB-BC2D-C55F-C312-D7B6FC4F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128595"/>
      </p:ext>
    </p:extLst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A6B1-E4F3-1080-79EC-CD835BDA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mknod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38EC3-3E41-EBA0-B8C7-8647FAC65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block or char special device files</a:t>
            </a:r>
          </a:p>
          <a:p>
            <a:r>
              <a:rPr lang="en-US" dirty="0" err="1"/>
              <a:t>mknod</a:t>
            </a:r>
            <a:r>
              <a:rPr lang="en-US" dirty="0"/>
              <a:t> [OPTIONS] NAME TYPE [MAJOR] [MINOR]</a:t>
            </a:r>
          </a:p>
          <a:p>
            <a:r>
              <a:rPr lang="en-US" dirty="0"/>
              <a:t>NAME </a:t>
            </a:r>
            <a:r>
              <a:rPr lang="en-US" dirty="0">
                <a:sym typeface="Wingdings" panose="05000000000000000000" pitchFamily="2" charset="2"/>
              </a:rPr>
              <a:t> special device file name</a:t>
            </a:r>
          </a:p>
          <a:p>
            <a:r>
              <a:rPr lang="en-US" dirty="0">
                <a:sym typeface="Wingdings" panose="05000000000000000000" pitchFamily="2" charset="2"/>
              </a:rPr>
              <a:t>TYPE  c, b, p</a:t>
            </a:r>
          </a:p>
          <a:p>
            <a:r>
              <a:rPr lang="en-US" dirty="0">
                <a:sym typeface="Wingdings" panose="05000000000000000000" pitchFamily="2" charset="2"/>
              </a:rPr>
              <a:t>MAJOR  major number of device file</a:t>
            </a:r>
          </a:p>
          <a:p>
            <a:r>
              <a:rPr lang="en-US" dirty="0">
                <a:sym typeface="Wingdings" panose="05000000000000000000" pitchFamily="2" charset="2"/>
              </a:rPr>
              <a:t>MINOR  minor number of device file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DF749-7203-7714-292D-410B691E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475486"/>
      </p:ext>
    </p:extLst>
  </p:cSld>
  <p:clrMapOvr>
    <a:masterClrMapping/>
  </p:clrMapOvr>
  <p:transition spd="slow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999A-20F4-24DB-8FC3-43B7BD35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C740-EFA4-C42B-B29C-172409284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Callback handlers to be invoked by VFS</a:t>
            </a:r>
          </a:p>
          <a:p>
            <a:r>
              <a:rPr lang="en-US" dirty="0"/>
              <a:t>struct </a:t>
            </a:r>
            <a:r>
              <a:rPr lang="en-US" dirty="0" err="1"/>
              <a:t>file_operations</a:t>
            </a:r>
            <a:endParaRPr lang="en-US" dirty="0"/>
          </a:p>
          <a:p>
            <a:pPr lvl="1"/>
            <a:r>
              <a:rPr lang="en-US" dirty="0"/>
              <a:t>struct module owner</a:t>
            </a:r>
          </a:p>
          <a:p>
            <a:pPr lvl="1"/>
            <a:r>
              <a:rPr lang="en-US" dirty="0"/>
              <a:t>int (*open) (struct </a:t>
            </a:r>
            <a:r>
              <a:rPr lang="en-US" dirty="0" err="1"/>
              <a:t>inode</a:t>
            </a:r>
            <a:r>
              <a:rPr lang="en-US" dirty="0"/>
              <a:t> *, struct file *)</a:t>
            </a:r>
          </a:p>
          <a:p>
            <a:pPr lvl="1"/>
            <a:r>
              <a:rPr lang="en-IN" dirty="0"/>
              <a:t>int (*release) (struct </a:t>
            </a:r>
            <a:r>
              <a:rPr lang="en-IN" dirty="0" err="1"/>
              <a:t>inode</a:t>
            </a:r>
            <a:r>
              <a:rPr lang="en-IN" dirty="0"/>
              <a:t> , struct file *)</a:t>
            </a:r>
          </a:p>
          <a:p>
            <a:pPr lvl="1"/>
            <a:r>
              <a:rPr lang="en-IN" dirty="0"/>
              <a:t>read</a:t>
            </a:r>
          </a:p>
          <a:p>
            <a:pPr lvl="1"/>
            <a:r>
              <a:rPr lang="en-IN" dirty="0"/>
              <a:t>write</a:t>
            </a:r>
          </a:p>
          <a:p>
            <a:pPr lvl="1"/>
            <a:r>
              <a:rPr lang="en-IN" dirty="0"/>
              <a:t>poll</a:t>
            </a:r>
          </a:p>
          <a:p>
            <a:pPr lvl="1"/>
            <a:r>
              <a:rPr lang="en-IN" dirty="0" err="1"/>
              <a:t>ioctl</a:t>
            </a:r>
            <a:endParaRPr lang="en-IN" dirty="0"/>
          </a:p>
          <a:p>
            <a:pPr lvl="1"/>
            <a:r>
              <a:rPr lang="en-IN" dirty="0" err="1"/>
              <a:t>mmap</a:t>
            </a:r>
            <a:endParaRPr lang="en-IN" dirty="0"/>
          </a:p>
          <a:p>
            <a:pPr lvl="1"/>
            <a:r>
              <a:rPr lang="en-IN" dirty="0" err="1"/>
              <a:t>llseek</a:t>
            </a:r>
            <a:endParaRPr lang="en-IN" dirty="0"/>
          </a:p>
          <a:p>
            <a:pPr lvl="1"/>
            <a:r>
              <a:rPr lang="en-IN" dirty="0" err="1"/>
              <a:t>readdir</a:t>
            </a:r>
            <a:endParaRPr lang="en-IN" dirty="0"/>
          </a:p>
          <a:p>
            <a:pPr lvl="1"/>
            <a:r>
              <a:rPr lang="en-IN" dirty="0"/>
              <a:t>flush</a:t>
            </a:r>
          </a:p>
          <a:p>
            <a:pPr lvl="1"/>
            <a:r>
              <a:rPr lang="en-IN" dirty="0" err="1"/>
              <a:t>fsync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13890"/>
      </p:ext>
    </p:extLst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EECC-D536-17BA-50C8-6E799C6E1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Ops – Example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61235-480A-F393-57AD-1ED515F26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 </a:t>
            </a:r>
            <a:r>
              <a:rPr lang="en-US" dirty="0" err="1"/>
              <a:t>file_operations</a:t>
            </a:r>
            <a:r>
              <a:rPr lang="en-US" dirty="0"/>
              <a:t> </a:t>
            </a:r>
            <a:r>
              <a:rPr lang="en-US" dirty="0" err="1"/>
              <a:t>demo_fops</a:t>
            </a:r>
            <a:r>
              <a:rPr lang="en-US" dirty="0"/>
              <a:t> = {</a:t>
            </a:r>
          </a:p>
          <a:p>
            <a:pPr marL="0" indent="0">
              <a:buNone/>
            </a:pPr>
            <a:r>
              <a:rPr lang="en-US" dirty="0"/>
              <a:t>	.owner = THIS_MODULE,</a:t>
            </a:r>
          </a:p>
          <a:p>
            <a:pPr marL="0" indent="0">
              <a:buNone/>
            </a:pPr>
            <a:r>
              <a:rPr lang="en-US" dirty="0"/>
              <a:t>	.</a:t>
            </a:r>
            <a:r>
              <a:rPr lang="en-US" dirty="0" err="1"/>
              <a:t>llseek</a:t>
            </a:r>
            <a:r>
              <a:rPr lang="en-US" dirty="0"/>
              <a:t> = </a:t>
            </a:r>
            <a:r>
              <a:rPr lang="en-US" dirty="0" err="1"/>
              <a:t>hello_llseek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	.read = </a:t>
            </a:r>
            <a:r>
              <a:rPr lang="en-US" dirty="0" err="1"/>
              <a:t>hello_read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.write = </a:t>
            </a:r>
            <a:r>
              <a:rPr lang="en-US" dirty="0" err="1"/>
              <a:t>hello_write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.</a:t>
            </a:r>
            <a:r>
              <a:rPr lang="en-US" dirty="0" err="1"/>
              <a:t>ioctl</a:t>
            </a:r>
            <a:r>
              <a:rPr lang="en-US" dirty="0"/>
              <a:t> = </a:t>
            </a:r>
            <a:r>
              <a:rPr lang="en-US" dirty="0" err="1"/>
              <a:t>hello_ioctl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	.release = </a:t>
            </a:r>
            <a:r>
              <a:rPr lang="en-US" dirty="0" err="1"/>
              <a:t>hello_release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F77C6-5868-AE7E-A0E6-AC430445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33459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BBE5-8911-1453-806D-0EAFDF16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Dev Reg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36972-6467-325D-5ABD-EE789400C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struct </a:t>
            </a:r>
            <a:r>
              <a:rPr lang="en-US" dirty="0" err="1"/>
              <a:t>cdev</a:t>
            </a:r>
            <a:endParaRPr lang="en-US" dirty="0"/>
          </a:p>
          <a:p>
            <a:r>
              <a:rPr lang="en-US" dirty="0"/>
              <a:t>Allocating dynamically</a:t>
            </a:r>
          </a:p>
          <a:p>
            <a:pPr lvl="1"/>
            <a:r>
              <a:rPr lang="en-US" dirty="0" err="1"/>
              <a:t>cdev_alloc</a:t>
            </a:r>
            <a:endParaRPr lang="en-US" dirty="0"/>
          </a:p>
          <a:p>
            <a:r>
              <a:rPr lang="en-US" dirty="0" err="1"/>
              <a:t>cdev_init</a:t>
            </a:r>
            <a:endParaRPr lang="en-US" dirty="0"/>
          </a:p>
          <a:p>
            <a:pPr lvl="1"/>
            <a:r>
              <a:rPr lang="en-US" dirty="0" err="1"/>
              <a:t>cdev</a:t>
            </a:r>
            <a:r>
              <a:rPr lang="en-US" dirty="0"/>
              <a:t> =&gt; </a:t>
            </a:r>
            <a:r>
              <a:rPr lang="en-US" dirty="0" err="1"/>
              <a:t>cdev</a:t>
            </a:r>
            <a:r>
              <a:rPr lang="en-US" dirty="0"/>
              <a:t> structure pointer</a:t>
            </a:r>
          </a:p>
          <a:p>
            <a:pPr lvl="1"/>
            <a:r>
              <a:rPr lang="en-US" dirty="0"/>
              <a:t>fops =&gt; file operations structure pointer</a:t>
            </a:r>
          </a:p>
          <a:p>
            <a:r>
              <a:rPr lang="en-US" dirty="0" err="1"/>
              <a:t>cdev_add</a:t>
            </a:r>
            <a:endParaRPr lang="en-US" dirty="0"/>
          </a:p>
          <a:p>
            <a:pPr lvl="1"/>
            <a:r>
              <a:rPr lang="en-US" dirty="0" err="1"/>
              <a:t>cdev</a:t>
            </a:r>
            <a:r>
              <a:rPr lang="en-US" dirty="0"/>
              <a:t> =&gt; </a:t>
            </a:r>
            <a:r>
              <a:rPr lang="en-US" dirty="0" err="1"/>
              <a:t>cdev</a:t>
            </a:r>
            <a:r>
              <a:rPr lang="en-US" dirty="0"/>
              <a:t> structure pointer</a:t>
            </a:r>
          </a:p>
          <a:p>
            <a:pPr lvl="1"/>
            <a:r>
              <a:rPr lang="en-US" dirty="0" err="1"/>
              <a:t>dev_t</a:t>
            </a:r>
            <a:r>
              <a:rPr lang="en-US" dirty="0"/>
              <a:t> num =&gt; first device number</a:t>
            </a:r>
          </a:p>
          <a:p>
            <a:pPr lvl="1"/>
            <a:r>
              <a:rPr lang="en-US" dirty="0"/>
              <a:t>count =&gt; number of devices associated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FAF24-204B-091B-C0DB-732EF8FE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434094"/>
      </p:ext>
    </p:extLst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3956-458E-E5DB-22E7-082DE598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device removal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AC503-2595-0BEA-091D-9197C4547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cdev_del</a:t>
            </a:r>
            <a:endParaRPr lang="en-US" dirty="0"/>
          </a:p>
          <a:p>
            <a:pPr lvl="1"/>
            <a:r>
              <a:rPr lang="en-US" dirty="0" err="1"/>
              <a:t>cdev</a:t>
            </a:r>
            <a:r>
              <a:rPr lang="en-US" dirty="0"/>
              <a:t> =&gt; </a:t>
            </a:r>
            <a:r>
              <a:rPr lang="en-US" dirty="0" err="1"/>
              <a:t>cdev</a:t>
            </a:r>
            <a:r>
              <a:rPr lang="en-US" dirty="0"/>
              <a:t> structure pointer</a:t>
            </a:r>
          </a:p>
          <a:p>
            <a:r>
              <a:rPr lang="en-US" dirty="0" err="1"/>
              <a:t>cdev</a:t>
            </a:r>
            <a:r>
              <a:rPr lang="en-US" dirty="0"/>
              <a:t> structure pointer shouldn’t be accessed after using </a:t>
            </a:r>
            <a:r>
              <a:rPr lang="en-US" dirty="0" err="1"/>
              <a:t>cdev_del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1F789-DEFA-8C36-A42C-FB9ED0B4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96498"/>
      </p:ext>
    </p:extLst>
  </p:cSld>
  <p:clrMapOvr>
    <a:masterClrMapping/>
  </p:clrMapOvr>
  <p:transition spd="slow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89EC-2C54-ADEE-2EE5-3598FC6B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copy_to_user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0A93-90EE-4B94-9D18-1897349A2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=&gt; user pointer where data to be copied</a:t>
            </a:r>
          </a:p>
          <a:p>
            <a:r>
              <a:rPr lang="en-US" dirty="0"/>
              <a:t>from =&gt; kernel pointer is data source</a:t>
            </a:r>
          </a:p>
          <a:p>
            <a:r>
              <a:rPr lang="en-US" dirty="0"/>
              <a:t>count =&gt; number of bytes to be copied</a:t>
            </a:r>
          </a:p>
          <a:p>
            <a:r>
              <a:rPr lang="en-US" dirty="0"/>
              <a:t>Used during driver read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A2659-6396-3BFF-2069-9CCF117D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154205"/>
      </p:ext>
    </p:extLst>
  </p:cSld>
  <p:clrMapOvr>
    <a:masterClrMapping/>
  </p:clrMapOvr>
  <p:transition spd="slow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394E-534E-D4FF-1199-94E56768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Copy_from_user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399F-62C3-F85F-AAC7-36F6FA007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=&gt; kernel pointer where data to be copied</a:t>
            </a:r>
          </a:p>
          <a:p>
            <a:r>
              <a:rPr lang="en-US" dirty="0"/>
              <a:t>from =&gt; user pointer is data source</a:t>
            </a:r>
          </a:p>
          <a:p>
            <a:r>
              <a:rPr lang="en-US" dirty="0"/>
              <a:t>count =&gt; number of bytes to be copied</a:t>
            </a:r>
          </a:p>
          <a:p>
            <a:r>
              <a:rPr lang="en-US" dirty="0"/>
              <a:t>Used during driver write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95BF-1727-0B71-03FF-502F8C75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24125"/>
      </p:ext>
    </p:extLst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4EAD-0324-BD89-58A8-EDD17541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2683-4E06-1357-91E9-A9F32D7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39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7" name="Content Placeholder 6" descr="A computer code on a black background&#10;&#10;Description automatically generated">
            <a:extLst>
              <a:ext uri="{FF2B5EF4-FFF2-40B4-BE49-F238E27FC236}">
                <a16:creationId xmlns:a16="http://schemas.microsoft.com/office/drawing/2014/main" id="{B043949B-7E0A-F3BA-363A-4AC4E9723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2467" y="2796232"/>
            <a:ext cx="8707065" cy="213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746589"/>
      </p:ext>
    </p:extLst>
  </p:cSld>
  <p:clrMapOvr>
    <a:masterClrMapping/>
  </p:clrMapOvr>
  <p:transition spd="slow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3F32-997B-92A1-88AD-F3114C120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7AAB-7109-97A5-B31A-D45DD5871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https://sysprog21.github.io/lkmpg/</a:t>
            </a:r>
            <a:endParaRPr lang="en-US" dirty="0"/>
          </a:p>
          <a:p>
            <a:r>
              <a:rPr lang="en-US" dirty="0">
                <a:hlinkClick r:id="rId3"/>
              </a:rPr>
              <a:t>https://www.apriorit.com/dev-blog/195-simple-driver-for-linux-os</a:t>
            </a:r>
            <a:endParaRPr lang="en-US" dirty="0"/>
          </a:p>
          <a:p>
            <a:r>
              <a:rPr lang="en-US" dirty="0">
                <a:hlinkClick r:id="rId4"/>
              </a:rPr>
              <a:t>https://embetronicx.com/tutorials/linux/device-drivers/linux-device-driver-part-1-introduction/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A97B5-93E2-C948-F546-07EA85BB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40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897346"/>
      </p:ext>
    </p:extLst>
  </p:cSld>
  <p:clrMapOvr>
    <a:masterClrMapping/>
  </p:clrMapOvr>
  <p:transition spd="slow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8FAA-B299-09BB-2343-278AEF0F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8326-EB8A-DE14-B80E-22F18BEF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0A38B-4C0F-1B8B-776C-9F389E51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41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487708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C931246BAB1346A19549D6C7D34CA3" ma:contentTypeVersion="18" ma:contentTypeDescription="Create a new document." ma:contentTypeScope="" ma:versionID="59d431cb2a96c6d5a3beedd54a0a4a77">
  <xsd:schema xmlns:xsd="http://www.w3.org/2001/XMLSchema" xmlns:xs="http://www.w3.org/2001/XMLSchema" xmlns:p="http://schemas.microsoft.com/office/2006/metadata/properties" xmlns:ns2="995162d7-0d1e-4f25-a29c-902ea0bfb1ff" xmlns:ns3="3f810e55-39ab-4841-8cfd-14019ee9cec2" targetNamespace="http://schemas.microsoft.com/office/2006/metadata/properties" ma:root="true" ma:fieldsID="aae3d04ac70d1db6b2a3638521c9db09" ns2:_="" ns3:_="">
    <xsd:import namespace="995162d7-0d1e-4f25-a29c-902ea0bfb1ff"/>
    <xsd:import namespace="3f810e55-39ab-4841-8cfd-14019ee9ce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162d7-0d1e-4f25-a29c-902ea0bfb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cca0b37-dc92-4750-b2e6-91c94c0d26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810e55-39ab-4841-8cfd-14019ee9cec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5f64db8-adf5-4b84-bef8-7d1c396ccbd3}" ma:internalName="TaxCatchAll" ma:showField="CatchAllData" ma:web="3f810e55-39ab-4841-8cfd-14019ee9ce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810e55-39ab-4841-8cfd-14019ee9cec2" xsi:nil="true"/>
    <lcf76f155ced4ddcb4097134ff3c332f xmlns="995162d7-0d1e-4f25-a29c-902ea0bfb1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06F160-8A92-490D-9A4A-DACB29A59716}"/>
</file>

<file path=customXml/itemProps2.xml><?xml version="1.0" encoding="utf-8"?>
<ds:datastoreItem xmlns:ds="http://schemas.openxmlformats.org/officeDocument/2006/customXml" ds:itemID="{B771FCD6-323C-4B34-8DBA-B126EC4A70C6}"/>
</file>

<file path=customXml/itemProps3.xml><?xml version="1.0" encoding="utf-8"?>
<ds:datastoreItem xmlns:ds="http://schemas.openxmlformats.org/officeDocument/2006/customXml" ds:itemID="{159DB701-C92F-4C5F-B11E-1872169600A4}"/>
</file>

<file path=docProps/app.xml><?xml version="1.0" encoding="utf-8"?>
<Properties xmlns="http://schemas.openxmlformats.org/officeDocument/2006/extended-properties" xmlns:vt="http://schemas.openxmlformats.org/officeDocument/2006/docPropsVTypes">
  <TotalTime>9338</TotalTime>
  <Words>1445</Words>
  <Application>Microsoft Office PowerPoint</Application>
  <PresentationFormat>Widescreen</PresentationFormat>
  <Paragraphs>258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1_Office Theme</vt:lpstr>
      <vt:lpstr>Linux Driver Fundamentals</vt:lpstr>
      <vt:lpstr>Linux Kernel : Contents</vt:lpstr>
      <vt:lpstr>Linux : Kernel</vt:lpstr>
      <vt:lpstr>Linux: Kernel</vt:lpstr>
      <vt:lpstr>PowerPoint Presentation</vt:lpstr>
      <vt:lpstr>Linux: Kernel</vt:lpstr>
      <vt:lpstr>Linux Kernel Sub-Components</vt:lpstr>
      <vt:lpstr>Linux Kernel Sub-Components</vt:lpstr>
      <vt:lpstr>Linux: Kernel</vt:lpstr>
      <vt:lpstr>Linux: Kernel</vt:lpstr>
      <vt:lpstr>Linux: Kernel</vt:lpstr>
      <vt:lpstr>Linux: Kernel</vt:lpstr>
      <vt:lpstr>Linux Library files &amp; Directory Structure</vt:lpstr>
      <vt:lpstr>Linux: Library Files</vt:lpstr>
      <vt:lpstr>Linux: Types of Files</vt:lpstr>
      <vt:lpstr>PowerPoint Presentation</vt:lpstr>
      <vt:lpstr>What is Driver ?</vt:lpstr>
      <vt:lpstr>Linux Driver Ecosystem</vt:lpstr>
      <vt:lpstr>Device Driver - Categories</vt:lpstr>
      <vt:lpstr>Linux Kernel Module</vt:lpstr>
      <vt:lpstr>Module related commands</vt:lpstr>
      <vt:lpstr>Writing a Driver</vt:lpstr>
      <vt:lpstr>Module Initialization</vt:lpstr>
      <vt:lpstr>Module Deinitialization </vt:lpstr>
      <vt:lpstr>Character Drivers</vt:lpstr>
      <vt:lpstr>Character Driver </vt:lpstr>
      <vt:lpstr>Device File Number</vt:lpstr>
      <vt:lpstr>Character Driver Flow</vt:lpstr>
      <vt:lpstr>PowerPoint Presentation</vt:lpstr>
      <vt:lpstr>Registering/Deregistering the driver</vt:lpstr>
      <vt:lpstr>Registering/Deregistering the driver</vt:lpstr>
      <vt:lpstr>mknod </vt:lpstr>
      <vt:lpstr>File Operations </vt:lpstr>
      <vt:lpstr>File Ops – Example  </vt:lpstr>
      <vt:lpstr>Char Dev Reg Flow</vt:lpstr>
      <vt:lpstr>Char device removal </vt:lpstr>
      <vt:lpstr>copy_to_user</vt:lpstr>
      <vt:lpstr>Copy_from_user </vt:lpstr>
      <vt:lpstr>PowerPoint Presentation</vt:lpstr>
      <vt:lpstr>Reference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Abinayaviji Pandiyan</dc:creator>
  <cp:lastModifiedBy>Abinayaviji Pandiyan</cp:lastModifiedBy>
  <cp:revision>42</cp:revision>
  <dcterms:created xsi:type="dcterms:W3CDTF">2025-01-16T21:01:59Z</dcterms:created>
  <dcterms:modified xsi:type="dcterms:W3CDTF">2025-11-11T07:40:11Z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0x0101009BC931246BAB1346A19549D6C7D34CA3</vt:lpwstr>
  </property>
</Properties>
</file>